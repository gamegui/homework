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Вступление 20–30 секунд: тема — семь ключевых побед. Сразу назвать критерий отбора, чтобы было видно: список не случайный.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Обзорный слайд: за 20 секунд перечислить все семь побед. Дальше — подробно о каждой.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Рассказать тактику: слабый центр, сильные фланги, окружение. Подчеркнуть: цифры — оценки, точных данных за XIII век нет ни у кого, это честная позиция. Время — 40–50 секунд на слайд.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Главное: засадный полк как решающий ход и то, что полки шли под знамёнами разных княжеств — но как единое войско. Время — 40–50 секунд на слайд.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Сделать акцент на двух этапах: сначала разбили деблокаду Ходкевича, потом дожали гарнизон голодом. Это победа не царя, а ополчения. Время — 40–50 секунд на слайд.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Сильные факты: гарнизон Полтавы, редуты Петра, разгром за 2 часа, Переволочна. Артиллерия — ключевое преимущество. Время — 40–50 секунд на слайд.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Бородино — не победа в тактическом смысле, а стратегическая: армия сохранена, а враг погиб. Так и сказать честно — это оценят. Время — 40–50 секунд на слайд.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Три фазы: выстоять — окружить — уничтожить. Даты операции «Уран» и капитуляции назвать точно. Время — 40–50 секунд на слайд.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Логика: вымотать в обороне — разбить в наступлении. Прохоровка и первый салют — яркие детали. Время — 40–50 секунд на слайд.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Финал доклада: назвать фронты и командующих, Рейхстаг, цену Победы. Пауза перед цифрой 27 млн. Время — 40–50 секунд на слайд.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Финал 20 секунд: одна фраза-вывод, источники, благодарность. Если спросят про цифры — честно: по старым векам это оценки историков, точных данных нет.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Запасной слайд — НЕ показывать в основном выступлении, только если спросят: «а где современная Россия?». Ответ: показать слайд и сказать, что по периоду с 1991 года общепризнанного списка побед в законе нет, поэтому в доклад взяты исторические вехи, а современность отражена здесь.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914400"/>
            <a:ext cx="1463040" cy="73152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FFFFF"/>
                </a:solidFill>
              </a:defRPr>
            </a:pPr>
            <a:r>
              <a:t>Ключевые военные победы России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651760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F1ECDF"/>
                </a:solidFill>
              </a:defRPr>
            </a:pPr>
            <a:r>
              <a:t>Семь сражений, изменивших ход истории: даты, полководцы, ход боёв и итоги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3749039"/>
            <a:ext cx="10881360" cy="1234440"/>
          </a:xfrm>
          <a:prstGeom prst="rect">
            <a:avLst/>
          </a:prstGeom>
          <a:solidFill>
            <a:srgbClr val="2438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393192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Предмет: Основы российской государственности  •  2026</a:t>
            </a:r>
          </a:p>
          <a:p>
            <a:pPr>
              <a:defRPr sz="1600">
                <a:solidFill>
                  <a:srgbClr val="F1ECDF"/>
                </a:solidFill>
              </a:defRPr>
            </a:pPr>
            <a:r>
              <a:t>Отбор: победа должна была изменить ход истории, а дата — входить в дни воинской славы (ФЗ № 32-ФЗ)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41732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417320"/>
            <a:ext cx="12188952" cy="64008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28600"/>
            <a:ext cx="108813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C9A227"/>
                </a:solidFill>
              </a:defRPr>
            </a:pPr>
            <a:r>
              <a:t>1242–1945  •  семь веков</a:t>
            </a:r>
          </a:p>
          <a:p>
            <a:pPr>
              <a:defRPr sz="3000" b="1">
                <a:solidFill>
                  <a:srgbClr val="FFFFFF"/>
                </a:solidFill>
              </a:defRPr>
            </a:pPr>
            <a:r>
              <a:t>Семь побед — план доклада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8813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900" b="1">
                <a:solidFill>
                  <a:srgbClr val="1B2A4A"/>
                </a:solidFill>
              </a:rPr>
              <a:t>1. Ледовое побоище, 1242 — </a:t>
            </a:r>
            <a:r>
              <a:rPr sz="1900">
                <a:solidFill>
                  <a:srgbClr val="222222"/>
                </a:solidFill>
              </a:rPr>
              <a:t>Александр Невский громит рыцарей на Чудском озере.</a:t>
            </a:r>
          </a:p>
          <a:p>
            <a:pPr>
              <a:spcAft>
                <a:spcPts val="1000"/>
              </a:spcAft>
            </a:pPr>
            <a:r>
              <a:rPr sz="1900" b="1">
                <a:solidFill>
                  <a:srgbClr val="1B2A4A"/>
                </a:solidFill>
              </a:rPr>
              <a:t>2. Куликовская битва, 1380 — </a:t>
            </a:r>
            <a:r>
              <a:rPr sz="1900">
                <a:solidFill>
                  <a:srgbClr val="222222"/>
                </a:solidFill>
              </a:rPr>
              <a:t>Дмитрий Донской бьёт войско Мамая.</a:t>
            </a:r>
          </a:p>
          <a:p>
            <a:pPr>
              <a:spcAft>
                <a:spcPts val="1000"/>
              </a:spcAft>
            </a:pPr>
            <a:r>
              <a:rPr sz="1900" b="1">
                <a:solidFill>
                  <a:srgbClr val="1B2A4A"/>
                </a:solidFill>
              </a:rPr>
              <a:t>3. Освобождение Москвы, 1612 — </a:t>
            </a:r>
            <a:r>
              <a:rPr sz="1900">
                <a:solidFill>
                  <a:srgbClr val="222222"/>
                </a:solidFill>
              </a:rPr>
              <a:t>ополчение Минина и Пожарского выбивает поляков из Кремля.</a:t>
            </a:r>
          </a:p>
          <a:p>
            <a:pPr>
              <a:spcAft>
                <a:spcPts val="1000"/>
              </a:spcAft>
            </a:pPr>
            <a:r>
              <a:rPr sz="1900" b="1">
                <a:solidFill>
                  <a:srgbClr val="1B2A4A"/>
                </a:solidFill>
              </a:rPr>
              <a:t>4. Полтавская битва, 1709 — </a:t>
            </a:r>
            <a:r>
              <a:rPr sz="1900">
                <a:solidFill>
                  <a:srgbClr val="222222"/>
                </a:solidFill>
              </a:rPr>
              <a:t>Пётр I уничтожает армию Карла XII.</a:t>
            </a:r>
          </a:p>
          <a:p>
            <a:pPr>
              <a:spcAft>
                <a:spcPts val="1000"/>
              </a:spcAft>
            </a:pPr>
            <a:r>
              <a:rPr sz="1900" b="1">
                <a:solidFill>
                  <a:srgbClr val="1B2A4A"/>
                </a:solidFill>
              </a:rPr>
              <a:t>5. Бородино и 1812 год — </a:t>
            </a:r>
            <a:r>
              <a:rPr sz="1900">
                <a:solidFill>
                  <a:srgbClr val="222222"/>
                </a:solidFill>
              </a:rPr>
              <a:t>Кутузов и гибель «Великой армии» Наполеона.</a:t>
            </a:r>
          </a:p>
          <a:p>
            <a:pPr>
              <a:spcAft>
                <a:spcPts val="1000"/>
              </a:spcAft>
            </a:pPr>
            <a:r>
              <a:rPr sz="1900" b="1">
                <a:solidFill>
                  <a:srgbClr val="1B2A4A"/>
                </a:solidFill>
              </a:rPr>
              <a:t>6. Сталинград и Курск, 1943 — </a:t>
            </a:r>
            <a:r>
              <a:rPr sz="1900">
                <a:solidFill>
                  <a:srgbClr val="222222"/>
                </a:solidFill>
              </a:rPr>
              <a:t>коренной перелом Великой Отечественной.</a:t>
            </a:r>
          </a:p>
          <a:p>
            <a:pPr>
              <a:spcAft>
                <a:spcPts val="1000"/>
              </a:spcAft>
            </a:pPr>
            <a:r>
              <a:rPr sz="1900" b="1">
                <a:solidFill>
                  <a:srgbClr val="1B2A4A"/>
                </a:solidFill>
              </a:rPr>
              <a:t>7. Взятие Берлина, 1945 — </a:t>
            </a:r>
            <a:r>
              <a:rPr sz="1900">
                <a:solidFill>
                  <a:srgbClr val="222222"/>
                </a:solidFill>
              </a:rPr>
              <a:t>Победа 9 Мая.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</a:defRPr>
            </a:pPr>
            <a:r>
              <a:t>Основы российской государственности  •  Ключевые военные победы России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35508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B7280"/>
                </a:solidFill>
              </a:defRPr>
            </a:pPr>
            <a:r>
              <a:t>2/12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41732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417320"/>
            <a:ext cx="12188952" cy="64008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28600"/>
            <a:ext cx="108813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C9A227"/>
                </a:solidFill>
              </a:defRPr>
            </a:pPr>
            <a:r>
              <a:t>5 апреля 1242  •  Чудское озеро  •  Александр Невский</a:t>
            </a:r>
          </a:p>
          <a:p>
            <a:pPr>
              <a:defRPr sz="3000" b="1">
                <a:solidFill>
                  <a:srgbClr val="FFFFFF"/>
                </a:solidFill>
              </a:defRPr>
            </a:pPr>
            <a:r>
              <a:t>Ледовое побоище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88136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1">
                <a:solidFill>
                  <a:srgbClr val="1B2A4A"/>
                </a:solidFill>
              </a:rPr>
              <a:t>Кто с кем: </a:t>
            </a:r>
            <a:r>
              <a:rPr sz="1700">
                <a:solidFill>
                  <a:srgbClr val="222222"/>
                </a:solidFill>
              </a:rPr>
              <a:t>войско Новгорода и Владимира против рыцарей Ливонского ордена.</a:t>
            </a:r>
          </a:p>
          <a:p>
            <a:pPr>
              <a:spcAft>
                <a:spcPts val="600"/>
              </a:spcAft>
            </a:pPr>
            <a:r>
              <a:rPr sz="1700" b="1">
                <a:solidFill>
                  <a:srgbClr val="1B2A4A"/>
                </a:solidFill>
              </a:rPr>
              <a:t>Силы: </a:t>
            </a:r>
            <a:r>
              <a:rPr sz="1700">
                <a:solidFill>
                  <a:srgbClr val="222222"/>
                </a:solidFill>
              </a:rPr>
              <a:t>по оценкам историков — несколько тысяч с каждой стороны, точных цифр нет.</a:t>
            </a:r>
          </a:p>
          <a:p>
            <a:pPr>
              <a:spcAft>
                <a:spcPts val="600"/>
              </a:spcAft>
            </a:pPr>
            <a:r>
              <a:rPr sz="1700" b="1">
                <a:solidFill>
                  <a:srgbClr val="1B2A4A"/>
                </a:solidFill>
              </a:rPr>
              <a:t>Ход боя: </a:t>
            </a:r>
            <a:r>
              <a:rPr sz="1700">
                <a:solidFill>
                  <a:srgbClr val="222222"/>
                </a:solidFill>
              </a:rPr>
              <a:t>русские заманили рыцарскую «свинью» в центр, затем ударили с флангов и окружили её на льду.</a:t>
            </a:r>
          </a:p>
          <a:p>
            <a:pPr>
              <a:spcAft>
                <a:spcPts val="600"/>
              </a:spcAft>
            </a:pPr>
            <a:r>
              <a:rPr sz="1700" b="1">
                <a:solidFill>
                  <a:srgbClr val="1B2A4A"/>
                </a:solidFill>
              </a:rPr>
              <a:t>Потери врага: </a:t>
            </a:r>
            <a:r>
              <a:rPr sz="1700">
                <a:solidFill>
                  <a:srgbClr val="222222"/>
                </a:solidFill>
              </a:rPr>
              <a:t>летописи говорят о сотнях погибших рыцарей и пленении части войска.</a:t>
            </a:r>
          </a:p>
          <a:p>
            <a:pPr>
              <a:spcAft>
                <a:spcPts val="600"/>
              </a:spcAft>
            </a:pPr>
            <a:r>
              <a:rPr sz="1700" b="1">
                <a:solidFill>
                  <a:srgbClr val="1B2A4A"/>
                </a:solidFill>
              </a:rPr>
              <a:t>Сразу после: </a:t>
            </a:r>
            <a:r>
              <a:rPr sz="1700">
                <a:solidFill>
                  <a:srgbClr val="222222"/>
                </a:solidFill>
              </a:rPr>
              <a:t>Орден запросил мир и отказался от претензий на Псков и Новгород.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4709160"/>
            <a:ext cx="10881360" cy="1325880"/>
          </a:xfrm>
          <a:prstGeom prst="rect">
            <a:avLst/>
          </a:prstGeom>
          <a:solidFill>
            <a:srgbClr val="F1EC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ctr"/>
            <a:r>
              <a:rPr sz="1700" b="1">
                <a:solidFill>
                  <a:srgbClr val="1B2A4A"/>
                </a:solidFill>
              </a:rPr>
              <a:t>Итог: </a:t>
            </a:r>
            <a:r>
              <a:rPr sz="1700">
                <a:solidFill>
                  <a:srgbClr val="222222"/>
                </a:solidFill>
              </a:rPr>
              <a:t>разгром крестоносцев, Русь отстояла северо-запад; день воинской славы — 18 апреля.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4709160"/>
            <a:ext cx="82296" cy="132588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</a:defRPr>
            </a:pPr>
            <a:r>
              <a:t>Основы российской государственности  •  Ключевые военные победы России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35508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B7280"/>
                </a:solidFill>
              </a:defRPr>
            </a:pPr>
            <a:r>
              <a:t>3/12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41732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417320"/>
            <a:ext cx="12188952" cy="64008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28600"/>
            <a:ext cx="108813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C9A227"/>
                </a:solidFill>
              </a:defRPr>
            </a:pPr>
            <a:r>
              <a:t>8 сентября 1380  •  Куликово поле, у Дона  •  Дмитрий Донской</a:t>
            </a:r>
          </a:p>
          <a:p>
            <a:pPr>
              <a:defRPr sz="3000" b="1">
                <a:solidFill>
                  <a:srgbClr val="FFFFFF"/>
                </a:solidFill>
              </a:defRPr>
            </a:pPr>
            <a:r>
              <a:t>Куликовская битва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88136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1">
                <a:solidFill>
                  <a:srgbClr val="1B2A4A"/>
                </a:solidFill>
              </a:rPr>
              <a:t>Кто с кем: </a:t>
            </a:r>
            <a:r>
              <a:rPr sz="1700">
                <a:solidFill>
                  <a:srgbClr val="222222"/>
                </a:solidFill>
              </a:rPr>
              <a:t>полки Москвы и союзных княжеств против войска хана Мамая.</a:t>
            </a:r>
          </a:p>
          <a:p>
            <a:pPr>
              <a:spcAft>
                <a:spcPts val="600"/>
              </a:spcAft>
            </a:pPr>
            <a:r>
              <a:rPr sz="1700" b="1">
                <a:solidFill>
                  <a:srgbClr val="1B2A4A"/>
                </a:solidFill>
              </a:rPr>
              <a:t>Силы: </a:t>
            </a:r>
            <a:r>
              <a:rPr sz="1700">
                <a:solidFill>
                  <a:srgbClr val="222222"/>
                </a:solidFill>
              </a:rPr>
              <a:t>оценки — от 40 до 70 тыс. русских против 90–150 тыс. ордынских (цифры спорны).</a:t>
            </a:r>
          </a:p>
          <a:p>
            <a:pPr>
              <a:spcAft>
                <a:spcPts val="600"/>
              </a:spcAft>
            </a:pPr>
            <a:r>
              <a:rPr sz="1700" b="1">
                <a:solidFill>
                  <a:srgbClr val="1B2A4A"/>
                </a:solidFill>
              </a:rPr>
              <a:t>Ход боя: </a:t>
            </a:r>
            <a:r>
              <a:rPr sz="1700">
                <a:solidFill>
                  <a:srgbClr val="222222"/>
                </a:solidFill>
              </a:rPr>
              <a:t>тяжёлая сеча в центре; в решающий момент ударил засадный полк Боброка — Орда побежала.</a:t>
            </a:r>
          </a:p>
          <a:p>
            <a:pPr>
              <a:spcAft>
                <a:spcPts val="600"/>
              </a:spcAft>
            </a:pPr>
            <a:r>
              <a:rPr sz="1700" b="1">
                <a:solidFill>
                  <a:srgbClr val="1B2A4A"/>
                </a:solidFill>
              </a:rPr>
              <a:t>Цена: </a:t>
            </a:r>
            <a:r>
              <a:rPr sz="1700">
                <a:solidFill>
                  <a:srgbClr val="222222"/>
                </a:solidFill>
              </a:rPr>
              <a:t>потери русских огромны, летописи пишут о гибели множества воевод и воинов.</a:t>
            </a:r>
          </a:p>
          <a:p>
            <a:pPr>
              <a:spcAft>
                <a:spcPts val="600"/>
              </a:spcAft>
            </a:pPr>
            <a:r>
              <a:rPr sz="1700" b="1">
                <a:solidFill>
                  <a:srgbClr val="1B2A4A"/>
                </a:solidFill>
              </a:rPr>
              <a:t>Сразу после: </a:t>
            </a:r>
            <a:r>
              <a:rPr sz="1700">
                <a:solidFill>
                  <a:srgbClr val="222222"/>
                </a:solidFill>
              </a:rPr>
              <a:t>Мамай бежал и вскоре погиб; иго продолжится ещё 100 лет, но страх перед Ордой сломан.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4709160"/>
            <a:ext cx="10881360" cy="1325880"/>
          </a:xfrm>
          <a:prstGeom prst="rect">
            <a:avLst/>
          </a:prstGeom>
          <a:solidFill>
            <a:srgbClr val="F1EC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ctr"/>
            <a:r>
              <a:rPr sz="1700" b="1">
                <a:solidFill>
                  <a:srgbClr val="1B2A4A"/>
                </a:solidFill>
              </a:rPr>
              <a:t>Итог: </a:t>
            </a:r>
            <a:r>
              <a:rPr sz="1700">
                <a:solidFill>
                  <a:srgbClr val="222222"/>
                </a:solidFill>
              </a:rPr>
              <a:t>первая победа объединённого русского войска над главными силами Орды; день славы — 21 сентября.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4709160"/>
            <a:ext cx="82296" cy="132588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</a:defRPr>
            </a:pPr>
            <a:r>
              <a:t>Основы российской государственности  •  Ключевые военные победы России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35508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B7280"/>
                </a:solidFill>
              </a:defRPr>
            </a:pPr>
            <a:r>
              <a:t>4/12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41732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417320"/>
            <a:ext cx="12188952" cy="64008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28600"/>
            <a:ext cx="108813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C9A227"/>
                </a:solidFill>
              </a:defRPr>
            </a:pPr>
            <a:r>
              <a:t>Август — октябрь 1612  •  Минин и Пожарский</a:t>
            </a:r>
          </a:p>
          <a:p>
            <a:pPr>
              <a:defRPr sz="3000" b="1">
                <a:solidFill>
                  <a:srgbClr val="FFFFFF"/>
                </a:solidFill>
              </a:defRPr>
            </a:pPr>
            <a:r>
              <a:t>Освобождение Москвы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88136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1">
                <a:solidFill>
                  <a:srgbClr val="1B2A4A"/>
                </a:solidFill>
              </a:rPr>
              <a:t>Кто с кем: </a:t>
            </a:r>
            <a:r>
              <a:rPr sz="1700">
                <a:solidFill>
                  <a:srgbClr val="222222"/>
                </a:solidFill>
              </a:rPr>
              <a:t>Второе народное ополчение против польского гарнизона Кремля и войска гетмана Ходкевича.</a:t>
            </a:r>
          </a:p>
          <a:p>
            <a:pPr>
              <a:spcAft>
                <a:spcPts val="600"/>
              </a:spcAft>
            </a:pPr>
            <a:r>
              <a:rPr sz="1700" b="1">
                <a:solidFill>
                  <a:srgbClr val="1B2A4A"/>
                </a:solidFill>
              </a:rPr>
              <a:t>Силы: </a:t>
            </a:r>
            <a:r>
              <a:rPr sz="1700">
                <a:solidFill>
                  <a:srgbClr val="222222"/>
                </a:solidFill>
              </a:rPr>
              <a:t>у ополчения — около 10 тыс., у Ходкевича — 12–15 тыс. плюс гарнизон Кремля.</a:t>
            </a:r>
          </a:p>
          <a:p>
            <a:pPr>
              <a:spcAft>
                <a:spcPts val="600"/>
              </a:spcAft>
            </a:pPr>
            <a:r>
              <a:rPr sz="1700" b="1">
                <a:solidFill>
                  <a:srgbClr val="1B2A4A"/>
                </a:solidFill>
              </a:rPr>
              <a:t>Ход боёв: </a:t>
            </a:r>
            <a:r>
              <a:rPr sz="1700">
                <a:solidFill>
                  <a:srgbClr val="222222"/>
                </a:solidFill>
              </a:rPr>
              <a:t>22–24 августа ополчение отбило все попытки Ходкевича прорваться в Кремль (бой у Новодевичьего монастыря).</a:t>
            </a:r>
          </a:p>
          <a:p>
            <a:pPr>
              <a:spcAft>
                <a:spcPts val="600"/>
              </a:spcAft>
            </a:pPr>
            <a:r>
              <a:rPr sz="1700" b="1">
                <a:solidFill>
                  <a:srgbClr val="1B2A4A"/>
                </a:solidFill>
              </a:rPr>
              <a:t>Осада: </a:t>
            </a:r>
            <a:r>
              <a:rPr sz="1700">
                <a:solidFill>
                  <a:srgbClr val="222222"/>
                </a:solidFill>
              </a:rPr>
              <a:t>гарнизон остался без еды и помощи; 26 октября (4 ноября) Кремль капитулировал.</a:t>
            </a:r>
          </a:p>
          <a:p>
            <a:pPr>
              <a:spcAft>
                <a:spcPts val="600"/>
              </a:spcAft>
            </a:pPr>
            <a:r>
              <a:rPr sz="1700" b="1">
                <a:solidFill>
                  <a:srgbClr val="1B2A4A"/>
                </a:solidFill>
              </a:rPr>
              <a:t>Сразу после: </a:t>
            </a:r>
            <a:r>
              <a:rPr sz="1700">
                <a:solidFill>
                  <a:srgbClr val="222222"/>
                </a:solidFill>
              </a:rPr>
              <a:t>в 1613 году избран Михаил Романов — конец Смуты.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4709160"/>
            <a:ext cx="10881360" cy="1325880"/>
          </a:xfrm>
          <a:prstGeom prst="rect">
            <a:avLst/>
          </a:prstGeom>
          <a:solidFill>
            <a:srgbClr val="F1EC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ctr"/>
            <a:r>
              <a:rPr sz="1700" b="1">
                <a:solidFill>
                  <a:srgbClr val="1B2A4A"/>
                </a:solidFill>
              </a:rPr>
              <a:t>Итог: </a:t>
            </a:r>
            <a:r>
              <a:rPr sz="1700">
                <a:solidFill>
                  <a:srgbClr val="222222"/>
                </a:solidFill>
              </a:rPr>
              <a:t>спасение русской государственности народом; праздник — 4 ноября, День народного единства.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4709160"/>
            <a:ext cx="82296" cy="132588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</a:defRPr>
            </a:pPr>
            <a:r>
              <a:t>Основы российской государственности  •  Ключевые военные победы России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35508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B7280"/>
                </a:solidFill>
              </a:defRPr>
            </a:pPr>
            <a:r>
              <a:t>5/12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41732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417320"/>
            <a:ext cx="12188952" cy="64008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28600"/>
            <a:ext cx="108813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C9A227"/>
                </a:solidFill>
              </a:defRPr>
            </a:pPr>
            <a:r>
              <a:t>27 июня (8 июля) 1709  •  Пётр I против Карла XII</a:t>
            </a:r>
          </a:p>
          <a:p>
            <a:pPr>
              <a:defRPr sz="3000" b="1">
                <a:solidFill>
                  <a:srgbClr val="FFFFFF"/>
                </a:solidFill>
              </a:defRPr>
            </a:pPr>
            <a:r>
              <a:t>Полтавская битва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88136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1">
                <a:solidFill>
                  <a:srgbClr val="1B2A4A"/>
                </a:solidFill>
              </a:rPr>
              <a:t>Перед боем: </a:t>
            </a:r>
            <a:r>
              <a:rPr sz="1700">
                <a:solidFill>
                  <a:srgbClr val="222222"/>
                </a:solidFill>
              </a:rPr>
              <a:t>шведы осаждали Полтаву; гарнизон Келина выдержал 20 штурмов, дав Петру время.</a:t>
            </a:r>
          </a:p>
          <a:p>
            <a:pPr>
              <a:spcAft>
                <a:spcPts val="600"/>
              </a:spcAft>
            </a:pPr>
            <a:r>
              <a:rPr sz="1700" b="1">
                <a:solidFill>
                  <a:srgbClr val="1B2A4A"/>
                </a:solidFill>
              </a:rPr>
              <a:t>Силы в бою: </a:t>
            </a:r>
            <a:r>
              <a:rPr sz="1700">
                <a:solidFill>
                  <a:srgbClr val="222222"/>
                </a:solidFill>
              </a:rPr>
              <a:t>≈42 тыс. русских и 100+ орудий против ≈17–20 тыс. шведов всего с 4 орудиями.</a:t>
            </a:r>
          </a:p>
          <a:p>
            <a:pPr>
              <a:spcAft>
                <a:spcPts val="600"/>
              </a:spcAft>
            </a:pPr>
            <a:r>
              <a:rPr sz="1700" b="1">
                <a:solidFill>
                  <a:srgbClr val="1B2A4A"/>
                </a:solidFill>
              </a:rPr>
              <a:t>Ход боя: </a:t>
            </a:r>
            <a:r>
              <a:rPr sz="1700">
                <a:solidFill>
                  <a:srgbClr val="222222"/>
                </a:solidFill>
              </a:rPr>
              <a:t>редуты измотали шведов; решающая атака русской пехоты и конницы Меншикова — 2 часа, и армия Карла бежит.</a:t>
            </a:r>
          </a:p>
          <a:p>
            <a:pPr>
              <a:spcAft>
                <a:spcPts val="600"/>
              </a:spcAft>
            </a:pPr>
            <a:r>
              <a:rPr sz="1700" b="1">
                <a:solidFill>
                  <a:srgbClr val="1B2A4A"/>
                </a:solidFill>
              </a:rPr>
              <a:t>Потери: </a:t>
            </a:r>
            <a:r>
              <a:rPr sz="1700">
                <a:solidFill>
                  <a:srgbClr val="222222"/>
                </a:solidFill>
              </a:rPr>
              <a:t>шведы — 9+ тыс. убитых и ~19 тыс. пленных; русские — 1345 убитых и 3290 раненых.</a:t>
            </a:r>
          </a:p>
          <a:p>
            <a:pPr>
              <a:spcAft>
                <a:spcPts val="600"/>
              </a:spcAft>
            </a:pPr>
            <a:r>
              <a:rPr sz="1700" b="1">
                <a:solidFill>
                  <a:srgbClr val="1B2A4A"/>
                </a:solidFill>
              </a:rPr>
              <a:t>Погоня: </a:t>
            </a:r>
            <a:r>
              <a:rPr sz="1700">
                <a:solidFill>
                  <a:srgbClr val="222222"/>
                </a:solidFill>
              </a:rPr>
              <a:t>остатки шведов капитулировали у Переволочны; Карл XII бежал в Османскую империю.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4709160"/>
            <a:ext cx="10881360" cy="1325880"/>
          </a:xfrm>
          <a:prstGeom prst="rect">
            <a:avLst/>
          </a:prstGeom>
          <a:solidFill>
            <a:srgbClr val="F1EC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ctr"/>
            <a:r>
              <a:rPr sz="1700" b="1">
                <a:solidFill>
                  <a:srgbClr val="1B2A4A"/>
                </a:solidFill>
              </a:rPr>
              <a:t>Итог: </a:t>
            </a:r>
            <a:r>
              <a:rPr sz="1700">
                <a:solidFill>
                  <a:srgbClr val="222222"/>
                </a:solidFill>
              </a:rPr>
              <a:t>перелом Северной войны, выход к Балтике, статус великой державы; день славы — 10 июля.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4709160"/>
            <a:ext cx="82296" cy="132588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</a:defRPr>
            </a:pPr>
            <a:r>
              <a:t>Основы российской государственности  •  Ключевые военные победы России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35508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B7280"/>
                </a:solidFill>
              </a:defRPr>
            </a:pPr>
            <a:r>
              <a:t>6/12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41732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417320"/>
            <a:ext cx="12188952" cy="64008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28600"/>
            <a:ext cx="108813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C9A227"/>
                </a:solidFill>
              </a:defRPr>
            </a:pPr>
            <a:r>
              <a:t>7 сентября — декабрь 1812  •  М. И. Кутузов против Наполеона</a:t>
            </a:r>
          </a:p>
          <a:p>
            <a:pPr>
              <a:defRPr sz="3000" b="1">
                <a:solidFill>
                  <a:srgbClr val="FFFFFF"/>
                </a:solidFill>
              </a:defRPr>
            </a:pPr>
            <a:r>
              <a:t>Бородино и гибель «Великой армии»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88136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1">
                <a:solidFill>
                  <a:srgbClr val="1B2A4A"/>
                </a:solidFill>
              </a:rPr>
              <a:t>Силы при Бородине: </a:t>
            </a:r>
            <a:r>
              <a:rPr sz="1700">
                <a:solidFill>
                  <a:srgbClr val="222222"/>
                </a:solidFill>
              </a:rPr>
              <a:t>≈120–150 тыс. русских против ≈135 тыс. французов; потери — десятки тысяч с каждой стороны.</a:t>
            </a:r>
          </a:p>
          <a:p>
            <a:pPr>
              <a:spcAft>
                <a:spcPts val="600"/>
              </a:spcAft>
            </a:pPr>
            <a:r>
              <a:rPr sz="1700" b="1">
                <a:solidFill>
                  <a:srgbClr val="1B2A4A"/>
                </a:solidFill>
              </a:rPr>
              <a:t>Ход боя: </a:t>
            </a:r>
            <a:r>
              <a:rPr sz="1700">
                <a:solidFill>
                  <a:srgbClr val="222222"/>
                </a:solidFill>
              </a:rPr>
              <a:t>бой с утра до вечера: Багратионовы флеши, батарея Раевского по 8 раз переходили из рук в руки.</a:t>
            </a:r>
          </a:p>
          <a:p>
            <a:pPr>
              <a:spcAft>
                <a:spcPts val="600"/>
              </a:spcAft>
            </a:pPr>
            <a:r>
              <a:rPr sz="1700" b="1">
                <a:solidFill>
                  <a:srgbClr val="1B2A4A"/>
                </a:solidFill>
              </a:rPr>
              <a:t>После боя: </a:t>
            </a:r>
            <a:r>
              <a:rPr sz="1700">
                <a:solidFill>
                  <a:srgbClr val="222222"/>
                </a:solidFill>
              </a:rPr>
              <a:t>русские отошли, сохранив армию; Наполеон занял Москву — и попал в ловушку.</a:t>
            </a:r>
          </a:p>
          <a:p>
            <a:pPr>
              <a:spcAft>
                <a:spcPts val="600"/>
              </a:spcAft>
            </a:pPr>
            <a:r>
              <a:rPr sz="1700" b="1">
                <a:solidFill>
                  <a:srgbClr val="1B2A4A"/>
                </a:solidFill>
              </a:rPr>
              <a:t>Катастрофа врага: </a:t>
            </a:r>
            <a:r>
              <a:rPr sz="1700">
                <a:solidFill>
                  <a:srgbClr val="222222"/>
                </a:solidFill>
              </a:rPr>
              <a:t>пожары, голод, морозы, партизаны; к декабрю «Великая армия» уничтожена.</a:t>
            </a:r>
          </a:p>
          <a:p>
            <a:pPr>
              <a:spcAft>
                <a:spcPts val="600"/>
              </a:spcAft>
            </a:pPr>
            <a:r>
              <a:rPr sz="1700" b="1">
                <a:solidFill>
                  <a:srgbClr val="1B2A4A"/>
                </a:solidFill>
              </a:rPr>
              <a:t>Финал войны: </a:t>
            </a:r>
            <a:r>
              <a:rPr sz="1700">
                <a:solidFill>
                  <a:srgbClr val="222222"/>
                </a:solidFill>
              </a:rPr>
              <a:t>в 1813–1814 годах русская армия освободила Европу и вступила в Париж.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4709160"/>
            <a:ext cx="10881360" cy="1325880"/>
          </a:xfrm>
          <a:prstGeom prst="rect">
            <a:avLst/>
          </a:prstGeom>
          <a:solidFill>
            <a:srgbClr val="F1EC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ctr"/>
            <a:r>
              <a:rPr sz="1700" b="1">
                <a:solidFill>
                  <a:srgbClr val="1B2A4A"/>
                </a:solidFill>
              </a:rPr>
              <a:t>Итог: </a:t>
            </a:r>
            <a:r>
              <a:rPr sz="1700">
                <a:solidFill>
                  <a:srgbClr val="222222"/>
                </a:solidFill>
              </a:rPr>
              <a:t>Россия выстояла и сокрушила Наполеона; день Бородина — 8 сентября.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4709160"/>
            <a:ext cx="82296" cy="132588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</a:defRPr>
            </a:pPr>
            <a:r>
              <a:t>Основы российской государственности  •  Ключевые военные победы России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35508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B7280"/>
                </a:solidFill>
              </a:defRPr>
            </a:pPr>
            <a:r>
              <a:t>7/12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41732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417320"/>
            <a:ext cx="12188952" cy="64008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28600"/>
            <a:ext cx="108813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C9A227"/>
                </a:solidFill>
              </a:defRPr>
            </a:pPr>
            <a:r>
              <a:t>17 июля 1942 — 2 февраля 1943</a:t>
            </a:r>
          </a:p>
          <a:p>
            <a:pPr>
              <a:defRPr sz="3000" b="1">
                <a:solidFill>
                  <a:srgbClr val="FFFFFF"/>
                </a:solidFill>
              </a:defRPr>
            </a:pPr>
            <a:r>
              <a:t>Сталинградская битва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88136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1">
                <a:solidFill>
                  <a:srgbClr val="1B2A4A"/>
                </a:solidFill>
              </a:rPr>
              <a:t>Оборона: </a:t>
            </a:r>
            <a:r>
              <a:rPr sz="1700">
                <a:solidFill>
                  <a:srgbClr val="222222"/>
                </a:solidFill>
              </a:rPr>
              <a:t>июль–ноябрь 1942: бои за каждый дом и цех; город удержан на узкой полосе у Волги.</a:t>
            </a:r>
          </a:p>
          <a:p>
            <a:pPr>
              <a:spcAft>
                <a:spcPts val="600"/>
              </a:spcAft>
            </a:pPr>
            <a:r>
              <a:rPr sz="1700" b="1">
                <a:solidFill>
                  <a:srgbClr val="1B2A4A"/>
                </a:solidFill>
              </a:rPr>
              <a:t>Перелом: </a:t>
            </a:r>
            <a:r>
              <a:rPr sz="1700">
                <a:solidFill>
                  <a:srgbClr val="222222"/>
                </a:solidFill>
              </a:rPr>
              <a:t>19 ноября — операция «Уран»: удары по флангам, окружение ~300 тыс. группировки Паулюса.</a:t>
            </a:r>
          </a:p>
          <a:p>
            <a:pPr>
              <a:spcAft>
                <a:spcPts val="600"/>
              </a:spcAft>
            </a:pPr>
            <a:r>
              <a:rPr sz="1700" b="1">
                <a:solidFill>
                  <a:srgbClr val="1B2A4A"/>
                </a:solidFill>
              </a:rPr>
              <a:t>Кольцо: </a:t>
            </a:r>
            <a:r>
              <a:rPr sz="1700">
                <a:solidFill>
                  <a:srgbClr val="222222"/>
                </a:solidFill>
              </a:rPr>
              <a:t>декабрь–январь: срыв попыток деблокады (Манштейн), сжатие котла.</a:t>
            </a:r>
          </a:p>
          <a:p>
            <a:pPr>
              <a:spcAft>
                <a:spcPts val="600"/>
              </a:spcAft>
            </a:pPr>
            <a:r>
              <a:rPr sz="1700" b="1">
                <a:solidFill>
                  <a:srgbClr val="1B2A4A"/>
                </a:solidFill>
              </a:rPr>
              <a:t>Финал: </a:t>
            </a:r>
            <a:r>
              <a:rPr sz="1700">
                <a:solidFill>
                  <a:srgbClr val="222222"/>
                </a:solidFill>
              </a:rPr>
              <a:t>31 января — 2 февраля 1943: Паулюс капитулировал. День славы — 2 февраля.</a:t>
            </a:r>
          </a:p>
          <a:p>
            <a:pPr>
              <a:spcAft>
                <a:spcPts val="600"/>
              </a:spcAft>
            </a:pPr>
            <a:r>
              <a:rPr sz="1700" b="1">
                <a:solidFill>
                  <a:srgbClr val="1B2A4A"/>
                </a:solidFill>
              </a:rPr>
              <a:t>Масштаб: </a:t>
            </a:r>
            <a:r>
              <a:rPr sz="1700">
                <a:solidFill>
                  <a:srgbClr val="222222"/>
                </a:solidFill>
              </a:rPr>
              <a:t>потери с обеих сторон — более миллиона человек; крупнейшее поражение вермахта к тому моменту.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4709160"/>
            <a:ext cx="10881360" cy="1325880"/>
          </a:xfrm>
          <a:prstGeom prst="rect">
            <a:avLst/>
          </a:prstGeom>
          <a:solidFill>
            <a:srgbClr val="F1EC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ctr"/>
            <a:r>
              <a:rPr sz="1700" b="1">
                <a:solidFill>
                  <a:srgbClr val="1B2A4A"/>
                </a:solidFill>
              </a:rPr>
              <a:t>Итог: </a:t>
            </a:r>
            <a:r>
              <a:rPr sz="1700">
                <a:solidFill>
                  <a:srgbClr val="222222"/>
                </a:solidFill>
              </a:rPr>
              <a:t>коренной перелом войны: инициатива перешла к СССР.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4709160"/>
            <a:ext cx="82296" cy="132588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</a:defRPr>
            </a:pPr>
            <a:r>
              <a:t>Основы российской государственности  •  Ключевые военные победы России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35508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B7280"/>
                </a:solidFill>
              </a:defRPr>
            </a:pPr>
            <a:r>
              <a:t>8/12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41732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417320"/>
            <a:ext cx="12188952" cy="64008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28600"/>
            <a:ext cx="108813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C9A227"/>
                </a:solidFill>
              </a:defRPr>
            </a:pPr>
            <a:r>
              <a:t>5 июля — 23 августа 1943</a:t>
            </a:r>
          </a:p>
          <a:p>
            <a:pPr>
              <a:defRPr sz="3000" b="1">
                <a:solidFill>
                  <a:srgbClr val="FFFFFF"/>
                </a:solidFill>
              </a:defRPr>
            </a:pPr>
            <a:r>
              <a:t>Курская битва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88136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1">
                <a:solidFill>
                  <a:srgbClr val="1B2A4A"/>
                </a:solidFill>
              </a:rPr>
              <a:t>Замысел врага: </a:t>
            </a:r>
            <a:r>
              <a:rPr sz="1700">
                <a:solidFill>
                  <a:srgbClr val="222222"/>
                </a:solidFill>
              </a:rPr>
              <a:t>операция «Цитадель»: срезать Курский выступ ударами с севера и юга.</a:t>
            </a:r>
          </a:p>
          <a:p>
            <a:pPr>
              <a:spcAft>
                <a:spcPts val="600"/>
              </a:spcAft>
            </a:pPr>
            <a:r>
              <a:rPr sz="1700" b="1">
                <a:solidFill>
                  <a:srgbClr val="1B2A4A"/>
                </a:solidFill>
              </a:rPr>
              <a:t>Оборона: </a:t>
            </a:r>
            <a:r>
              <a:rPr sz="1700">
                <a:solidFill>
                  <a:srgbClr val="222222"/>
                </a:solidFill>
              </a:rPr>
              <a:t>глубоко эшелонированная оборона; немецкие клинья увязли за неделю боёв.</a:t>
            </a:r>
          </a:p>
          <a:p>
            <a:pPr>
              <a:spcAft>
                <a:spcPts val="600"/>
              </a:spcAft>
            </a:pPr>
            <a:r>
              <a:rPr sz="1700" b="1">
                <a:solidFill>
                  <a:srgbClr val="1B2A4A"/>
                </a:solidFill>
              </a:rPr>
              <a:t>Прохоровка: </a:t>
            </a:r>
            <a:r>
              <a:rPr sz="1700">
                <a:solidFill>
                  <a:srgbClr val="222222"/>
                </a:solidFill>
              </a:rPr>
              <a:t>12 июля — крупнейшее встречное танковое сражение истории (сотни танков с каждой стороны).</a:t>
            </a:r>
          </a:p>
          <a:p>
            <a:pPr>
              <a:spcAft>
                <a:spcPts val="600"/>
              </a:spcAft>
            </a:pPr>
            <a:r>
              <a:rPr sz="1700" b="1">
                <a:solidFill>
                  <a:srgbClr val="1B2A4A"/>
                </a:solidFill>
              </a:rPr>
              <a:t>Наступление: </a:t>
            </a:r>
            <a:r>
              <a:rPr sz="1700">
                <a:solidFill>
                  <a:srgbClr val="222222"/>
                </a:solidFill>
              </a:rPr>
              <a:t>орловская и белгородско-харьковская операции; освобождены Орёл, Белгород, Харьков.</a:t>
            </a:r>
          </a:p>
          <a:p>
            <a:pPr>
              <a:spcAft>
                <a:spcPts val="600"/>
              </a:spcAft>
            </a:pPr>
            <a:r>
              <a:rPr sz="1700" b="1">
                <a:solidFill>
                  <a:srgbClr val="1B2A4A"/>
                </a:solidFill>
              </a:rPr>
              <a:t>Салют: </a:t>
            </a:r>
            <a:r>
              <a:rPr sz="1700">
                <a:solidFill>
                  <a:srgbClr val="222222"/>
                </a:solidFill>
              </a:rPr>
              <a:t>5 августа — первый салют в Москве в честь освобождения Орла и Белгорода.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4709160"/>
            <a:ext cx="10881360" cy="1325880"/>
          </a:xfrm>
          <a:prstGeom prst="rect">
            <a:avLst/>
          </a:prstGeom>
          <a:solidFill>
            <a:srgbClr val="F1EC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ctr"/>
            <a:r>
              <a:rPr sz="1700" b="1">
                <a:solidFill>
                  <a:srgbClr val="1B2A4A"/>
                </a:solidFill>
              </a:rPr>
              <a:t>Итог: </a:t>
            </a:r>
            <a:r>
              <a:rPr sz="1700">
                <a:solidFill>
                  <a:srgbClr val="222222"/>
                </a:solidFill>
              </a:rPr>
              <a:t>провал последнего немецкого наступления на востоке; день славы — 23 августа.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4709160"/>
            <a:ext cx="82296" cy="132588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</a:defRPr>
            </a:pPr>
            <a:r>
              <a:t>Основы российской государственности  •  Ключевые военные победы России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35508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B7280"/>
                </a:solidFill>
              </a:defRPr>
            </a:pPr>
            <a:r>
              <a:t>9/12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41732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417320"/>
            <a:ext cx="12188952" cy="64008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28600"/>
            <a:ext cx="108813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C9A227"/>
                </a:solidFill>
              </a:defRPr>
            </a:pPr>
            <a:r>
              <a:t>16 апреля — 9 мая 1945</a:t>
            </a:r>
          </a:p>
          <a:p>
            <a:pPr>
              <a:defRPr sz="3000" b="1">
                <a:solidFill>
                  <a:srgbClr val="FFFFFF"/>
                </a:solidFill>
              </a:defRPr>
            </a:pPr>
            <a:r>
              <a:t>Взятие Берлина. Победа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88136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1">
                <a:solidFill>
                  <a:srgbClr val="1B2A4A"/>
                </a:solidFill>
              </a:rPr>
              <a:t>Силы: </a:t>
            </a:r>
            <a:r>
              <a:rPr sz="1700">
                <a:solidFill>
                  <a:srgbClr val="222222"/>
                </a:solidFill>
              </a:rPr>
              <a:t>три фронта — Жуков, Конев, Рокоссовский — против группировки ~1 млн человек.</a:t>
            </a:r>
          </a:p>
          <a:p>
            <a:pPr>
              <a:spcAft>
                <a:spcPts val="600"/>
              </a:spcAft>
            </a:pPr>
            <a:r>
              <a:rPr sz="1700" b="1">
                <a:solidFill>
                  <a:srgbClr val="1B2A4A"/>
                </a:solidFill>
              </a:rPr>
              <a:t>Прорыв: </a:t>
            </a:r>
            <a:r>
              <a:rPr sz="1700">
                <a:solidFill>
                  <a:srgbClr val="222222"/>
                </a:solidFill>
              </a:rPr>
              <a:t>форсирование Одера и Нейсе, бои за Зееловские высоты, окружение Берлина.</a:t>
            </a:r>
          </a:p>
          <a:p>
            <a:pPr>
              <a:spcAft>
                <a:spcPts val="600"/>
              </a:spcAft>
            </a:pPr>
            <a:r>
              <a:rPr sz="1700" b="1">
                <a:solidFill>
                  <a:srgbClr val="1B2A4A"/>
                </a:solidFill>
              </a:rPr>
              <a:t>Штурм: </a:t>
            </a:r>
            <a:r>
              <a:rPr sz="1700">
                <a:solidFill>
                  <a:srgbClr val="222222"/>
                </a:solidFill>
              </a:rPr>
              <a:t>уличные бои; 30 апреля — Знамя Победы над Рейхстагом (Егоров и Кантария).</a:t>
            </a:r>
          </a:p>
          <a:p>
            <a:pPr>
              <a:spcAft>
                <a:spcPts val="600"/>
              </a:spcAft>
            </a:pPr>
            <a:r>
              <a:rPr sz="1700" b="1">
                <a:solidFill>
                  <a:srgbClr val="1B2A4A"/>
                </a:solidFill>
              </a:rPr>
              <a:t>Капитуляция: </a:t>
            </a:r>
            <a:r>
              <a:rPr sz="1700">
                <a:solidFill>
                  <a:srgbClr val="222222"/>
                </a:solidFill>
              </a:rPr>
              <a:t>в ночь на 9 мая по Москве подписан Акт о безоговорочной капитуляции.</a:t>
            </a:r>
          </a:p>
          <a:p>
            <a:pPr>
              <a:spcAft>
                <a:spcPts val="600"/>
              </a:spcAft>
            </a:pPr>
            <a:r>
              <a:rPr sz="1700" b="1">
                <a:solidFill>
                  <a:srgbClr val="1B2A4A"/>
                </a:solidFill>
              </a:rPr>
              <a:t>Цена Победы: </a:t>
            </a:r>
            <a:r>
              <a:rPr sz="1700">
                <a:solidFill>
                  <a:srgbClr val="222222"/>
                </a:solidFill>
              </a:rPr>
              <a:t>около 27 млн жизней советских граждан за годы войны.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4709160"/>
            <a:ext cx="10881360" cy="1325880"/>
          </a:xfrm>
          <a:prstGeom prst="rect">
            <a:avLst/>
          </a:prstGeom>
          <a:solidFill>
            <a:srgbClr val="F1EC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ctr"/>
            <a:r>
              <a:rPr sz="1700" b="1">
                <a:solidFill>
                  <a:srgbClr val="1B2A4A"/>
                </a:solidFill>
              </a:rPr>
              <a:t>Итог: </a:t>
            </a:r>
            <a:r>
              <a:rPr sz="1700">
                <a:solidFill>
                  <a:srgbClr val="222222"/>
                </a:solidFill>
              </a:rPr>
              <a:t>сокрушение нацизма; 9 Мая — главный праздник воинской славы России.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4709160"/>
            <a:ext cx="82296" cy="132588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</a:defRPr>
            </a:pPr>
            <a:r>
              <a:t>Основы российской государственности  •  Ключевые военные победы России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35508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B7280"/>
                </a:solidFill>
              </a:defRPr>
            </a:pPr>
            <a:r>
              <a:t>10/12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1463040" cy="73152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00584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</a:defRPr>
            </a:pPr>
            <a:r>
              <a:t>Вывод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920240"/>
            <a:ext cx="108813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FFFFFF"/>
                </a:solidFill>
              </a:defRPr>
            </a:pPr>
            <a:r>
              <a:t>Семь побед — от Чудского озера до Берлина: каждая начиналась с обороны и заканчивалась переломом истории. Их помнит вся страна — даты закреплены в законе о днях воинской славы.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0233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F1ECDF"/>
                </a:solidFill>
              </a:defRPr>
            </a:pPr>
            <a:r>
              <a:t>Источники: ФЗ № 32-ФЗ «О днях воинской славы»; Большая российская энциклопедия; Президентская библиотека им. Ельцина; Российская газета; материалы РВИО.</a:t>
            </a:r>
          </a:p>
          <a:p>
            <a:pPr>
              <a:defRPr sz="2000" b="1">
                <a:solidFill>
                  <a:srgbClr val="C9A227"/>
                </a:solidFill>
              </a:defRPr>
            </a:pPr>
            <a:r>
              <a:t>Спасибо за внимание!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41732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417320"/>
            <a:ext cx="12188952" cy="64008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28600"/>
            <a:ext cx="108813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C9A227"/>
                </a:solidFill>
              </a:defRPr>
            </a:pPr>
            <a:r>
              <a:t>Запасной слайд  •  показать, только если спросят про период с 1991 года</a:t>
            </a:r>
          </a:p>
          <a:p>
            <a:pPr>
              <a:defRPr sz="3000" b="1">
                <a:solidFill>
                  <a:srgbClr val="FFFFFF"/>
                </a:solidFill>
              </a:defRPr>
            </a:pPr>
            <a:r>
              <a:t>Россия сегодня: воинская традиция продолжается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88136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1">
                <a:solidFill>
                  <a:srgbClr val="1B2A4A"/>
                </a:solidFill>
              </a:rPr>
              <a:t>Армия восстановлена: </a:t>
            </a:r>
            <a:r>
              <a:rPr sz="1700">
                <a:solidFill>
                  <a:srgbClr val="222222"/>
                </a:solidFill>
              </a:rPr>
              <a:t>в 2000–2010-е годы — реформа, перевооружение, рост боевой подготовки.</a:t>
            </a:r>
          </a:p>
          <a:p>
            <a:pPr>
              <a:spcAft>
                <a:spcPts val="600"/>
              </a:spcAft>
            </a:pPr>
            <a:r>
              <a:rPr sz="1700" b="1">
                <a:solidFill>
                  <a:srgbClr val="1B2A4A"/>
                </a:solidFill>
              </a:rPr>
              <a:t>Борьба с терроризмом: </a:t>
            </a:r>
            <a:r>
              <a:rPr sz="1700">
                <a:solidFill>
                  <a:srgbClr val="222222"/>
                </a:solidFill>
              </a:rPr>
              <a:t>контртеррористические операции на Северном Кавказе; режим КТО в Чечне завершён в 2009 году.</a:t>
            </a:r>
          </a:p>
          <a:p>
            <a:pPr>
              <a:spcAft>
                <a:spcPts val="600"/>
              </a:spcAft>
            </a:pPr>
            <a:r>
              <a:rPr sz="1700" b="1">
                <a:solidFill>
                  <a:srgbClr val="1B2A4A"/>
                </a:solidFill>
              </a:rPr>
              <a:t>Миротворцы: </a:t>
            </a:r>
            <a:r>
              <a:rPr sz="1700">
                <a:solidFill>
                  <a:srgbClr val="222222"/>
                </a:solidFill>
              </a:rPr>
              <a:t>миссии в Приднестровье, Абхазии, Южной Осетии, Нагорном Карабахе (2020–2023), участие в операциях ООН.</a:t>
            </a:r>
          </a:p>
          <a:p>
            <a:pPr>
              <a:spcAft>
                <a:spcPts val="600"/>
              </a:spcAft>
            </a:pPr>
            <a:r>
              <a:rPr sz="1700" b="1">
                <a:solidFill>
                  <a:srgbClr val="1B2A4A"/>
                </a:solidFill>
              </a:rPr>
              <a:t>Сирия: </a:t>
            </a:r>
            <a:r>
              <a:rPr sz="1700">
                <a:solidFill>
                  <a:srgbClr val="222222"/>
                </a:solidFill>
              </a:rPr>
              <a:t>с 2015 года — операция по просьбе правительства САР против международных террористических организаций.</a:t>
            </a:r>
          </a:p>
          <a:p>
            <a:pPr>
              <a:spcAft>
                <a:spcPts val="600"/>
              </a:spcAft>
            </a:pPr>
            <a:r>
              <a:rPr sz="1700" b="1">
                <a:solidFill>
                  <a:srgbClr val="1B2A4A"/>
                </a:solidFill>
              </a:rPr>
              <a:t>Память: </a:t>
            </a:r>
            <a:r>
              <a:rPr sz="1700">
                <a:solidFill>
                  <a:srgbClr val="222222"/>
                </a:solidFill>
              </a:rPr>
              <a:t>парады 9 Мая, «Бессмертный полк», РВИО; закон о днях воинской славы дополняется (2023 — Крымская операция 1944).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4709160"/>
            <a:ext cx="10881360" cy="1325880"/>
          </a:xfrm>
          <a:prstGeom prst="rect">
            <a:avLst/>
          </a:prstGeom>
          <a:solidFill>
            <a:srgbClr val="F1EC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ctr"/>
            <a:r>
              <a:rPr sz="1700" b="1">
                <a:solidFill>
                  <a:srgbClr val="1B2A4A"/>
                </a:solidFill>
              </a:rPr>
              <a:t>Итог: </a:t>
            </a:r>
            <a:r>
              <a:rPr sz="1700">
                <a:solidFill>
                  <a:srgbClr val="222222"/>
                </a:solidFill>
              </a:rPr>
              <a:t>общепризнанного списка «ключевых побед РФ с 1991» в законе нет — поэтому основа доклада: исторические победы с научным консенсусом.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4709160"/>
            <a:ext cx="82296" cy="132588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</a:defRPr>
            </a:pPr>
            <a:r>
              <a:t>Основы российской государственности  •  Ключевые военные победы России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35508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B7280"/>
                </a:solidFill>
              </a:defRPr>
            </a:pPr>
            <a:r>
              <a:t>12/12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