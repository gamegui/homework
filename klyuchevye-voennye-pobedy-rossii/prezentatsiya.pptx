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Вступление 30 секунд: тема доклада, почему победы важны для государственности. Сразу обозначь критерий отбора — это покажет, что работа осмысленная, а не список из интернета.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— главный для предмета. Препод по Основам государственности ждёт не пересказ битв, а связь с понятиями курса: суверенитет, единство, ценности, преемственность.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веха: защита молодой Руси с запада. Невский — символ выбора своего пути развития. Говори по 35–40 секунд на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Несмотря на то что иго продлится ещё 100 лет, значение — в рождении общерусского единства. Говори по 35–40 секунд на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Ключевой пример: государства фактически не было — и его восстановил сам народ. Прямая иллюстрация единства. Говори по 35–40 секунд на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 обороны — к статусу империи. Полтава открыла путь к Балтике и Петербургу. Говори по 35–40 секунд на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Народный характер войны: ополчение, партизаны. День славы Бородина — 8 сентября. Говори по 35–40 секунд на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Сталинград — символ стойкости. Подчеркнуть цену: потери с обеих сторон — более миллиона человек. Говори по 35–40 секунд на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 линии: от Чудского озера до Берлина — непрерывная защита Отечества. 9 мая — главный праздник. Говори по 35–40 секунд на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выводной слайд. Пять пунктов — это готовый ответ на вопрос «в чём значение побед для государственности?».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про актуальность: показать, что даты не из Википедии, а из действующего закона. Для курса это пример того, как государство работает с исторической памятью.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 20–30 секунд: повторить тезис одним предложением, назвать источники, поблагодарить. Если спросят про цифры — честно сказать: по старым векам это оценки историков.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914400"/>
            <a:ext cx="146304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Ключевые военные победы России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1ECDF"/>
                </a:solidFill>
              </a:defRPr>
            </a:pPr>
            <a:r>
              <a:t>От Ледового побоища до Великой Победы: как победы сформировали российскую государственность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749039"/>
            <a:ext cx="10881360" cy="1234440"/>
          </a:xfrm>
          <a:prstGeom prst="rect">
            <a:avLst/>
          </a:prstGeom>
          <a:solidFill>
            <a:srgbClr val="243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Предмет: Основы российской государственности  •  2026</a:t>
            </a:r>
          </a:p>
          <a:p>
            <a:pPr>
              <a:defRPr sz="1600">
                <a:solidFill>
                  <a:srgbClr val="F1ECDF"/>
                </a:solidFill>
              </a:defRPr>
            </a:pPr>
            <a:r>
              <a:t>Критерий отбора: победа изменила ход истории и укрепила государство, а не просто выиграла сражение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9A227"/>
                </a:solidFill>
              </a:defRPr>
            </a:pPr>
            <a:r>
              <a:t>Введение</a:t>
            </a:r>
          </a:p>
          <a:p>
            <a:pPr>
              <a:defRPr sz="3000" b="1">
                <a:solidFill>
                  <a:srgbClr val="FFFFFF"/>
                </a:solidFill>
              </a:defRPr>
            </a:pPr>
            <a:r>
              <a:t>Почему победы — это про государственность?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6949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1B2A4A"/>
                </a:solidFill>
              </a:rPr>
              <a:t>Суверенитет. </a:t>
            </a:r>
            <a:r>
              <a:rPr sz="1800">
                <a:solidFill>
                  <a:srgbClr val="222222"/>
                </a:solidFill>
              </a:rPr>
              <a:t>Каждая победа — отстоявшая независимость: от крестоносцев, Орды, поляков, шведов, французов, нацистов.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1B2A4A"/>
                </a:solidFill>
              </a:rPr>
              <a:t>Единство. </a:t>
            </a:r>
            <a:r>
              <a:rPr sz="1800">
                <a:solidFill>
                  <a:srgbClr val="222222"/>
                </a:solidFill>
              </a:rPr>
              <a:t>Куликово поле, ополчение 1612-го, народная война 1812 и 1941 годов — победы всего народа, а не только армии.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1B2A4A"/>
                </a:solidFill>
              </a:rPr>
              <a:t>Преемственность. </a:t>
            </a:r>
            <a:r>
              <a:rPr sz="1800">
                <a:solidFill>
                  <a:srgbClr val="222222"/>
                </a:solidFill>
              </a:rPr>
              <a:t>От Руси через империю к современной России — непрерывная линия защиты Отечества.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1B2A4A"/>
                </a:solidFill>
              </a:rPr>
              <a:t>Ценности. </a:t>
            </a:r>
            <a:r>
              <a:rPr sz="1800">
                <a:solidFill>
                  <a:srgbClr val="222222"/>
                </a:solidFill>
              </a:rPr>
              <a:t>Служение, самопожертвование, единство — то, что курс называет традиционными ценностями.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5279" y="1920240"/>
            <a:ext cx="3566160" cy="4023360"/>
          </a:xfrm>
          <a:prstGeom prst="rect">
            <a:avLst/>
          </a:prstGeom>
          <a:solidFill>
            <a:srgbClr val="F1E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800" b="1">
                <a:solidFill>
                  <a:srgbClr val="1B2A4A"/>
                </a:solidFill>
              </a:rPr>
              <a:t>Тезис доклада
</a:t>
            </a:r>
            <a:r>
              <a:rPr sz="1700">
                <a:solidFill>
                  <a:srgbClr val="222222"/>
                </a:solidFill>
              </a:rPr>
              <a:t>
Военные победы России — это вехи становления и сохранения российской государственности.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Основы российской государственности  •  Ключевые военные победы России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7280"/>
                </a:solidFill>
              </a:defRPr>
            </a:pPr>
            <a: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9A227"/>
                </a:solidFill>
              </a:defRPr>
            </a:pPr>
            <a:r>
              <a:t>1242  •  Александр Невский</a:t>
            </a:r>
          </a:p>
          <a:p>
            <a:pPr>
              <a:defRPr sz="3000" b="1">
                <a:solidFill>
                  <a:srgbClr val="FFFFFF"/>
                </a:solidFill>
              </a:defRPr>
            </a:pPr>
            <a:r>
              <a:t>Ледовое побоище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Противник: </a:t>
            </a:r>
            <a:r>
              <a:rPr sz="1900">
                <a:solidFill>
                  <a:srgbClr val="222222"/>
                </a:solidFill>
              </a:rPr>
              <a:t>рыцари Ливонского ордена на Чудском озере.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Что было: </a:t>
            </a:r>
            <a:r>
              <a:rPr sz="1900">
                <a:solidFill>
                  <a:srgbClr val="222222"/>
                </a:solidFill>
              </a:rPr>
              <a:t>окружение и разгром рыцарского войска; день славы — 18 апреля.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Итог: </a:t>
            </a:r>
            <a:r>
              <a:rPr sz="1900">
                <a:solidFill>
                  <a:srgbClr val="222222"/>
                </a:solidFill>
              </a:rPr>
              <a:t>остановлена экспансия крестоносцев на восток.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617720"/>
            <a:ext cx="10881360" cy="1417320"/>
          </a:xfrm>
          <a:prstGeom prst="rect">
            <a:avLst/>
          </a:prstGeom>
          <a:solidFill>
            <a:srgbClr val="F1E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800" b="1">
                <a:solidFill>
                  <a:srgbClr val="1B2A4A"/>
                </a:solidFill>
              </a:rPr>
              <a:t>Значение для государственности: </a:t>
            </a:r>
            <a:r>
              <a:rPr sz="1800">
                <a:solidFill>
                  <a:srgbClr val="222222"/>
                </a:solidFill>
              </a:rPr>
              <a:t>Для государственности: Русь сохранила северо-запад, веру и независимость Новгорода и Пскова.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617720"/>
            <a:ext cx="82296" cy="14173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Основы российской государственности  •  Ключевые военные победы России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7280"/>
                </a:solidFill>
              </a:defRPr>
            </a:pPr>
            <a: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9A227"/>
                </a:solidFill>
              </a:defRPr>
            </a:pPr>
            <a:r>
              <a:t>1380  •  Дмитрий Донской</a:t>
            </a:r>
          </a:p>
          <a:p>
            <a:pPr>
              <a:defRPr sz="3000" b="1">
                <a:solidFill>
                  <a:srgbClr val="FFFFFF"/>
                </a:solidFill>
              </a:defRPr>
            </a:pPr>
            <a:r>
              <a:t>Куликовская битва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Противник: </a:t>
            </a:r>
            <a:r>
              <a:rPr sz="1900">
                <a:solidFill>
                  <a:srgbClr val="222222"/>
                </a:solidFill>
              </a:rPr>
              <a:t>войско хана Мамая на Куликовом поле.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Что было: </a:t>
            </a:r>
            <a:r>
              <a:rPr sz="1900">
                <a:solidFill>
                  <a:srgbClr val="222222"/>
                </a:solidFill>
              </a:rPr>
              <a:t>решающий удар засадного полка; день славы — 21 сентября.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Итог: </a:t>
            </a:r>
            <a:r>
              <a:rPr sz="1900">
                <a:solidFill>
                  <a:srgbClr val="222222"/>
                </a:solidFill>
              </a:rPr>
              <a:t>первая крупная победа объединённого русского войска над Ордой.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617720"/>
            <a:ext cx="10881360" cy="1417320"/>
          </a:xfrm>
          <a:prstGeom prst="rect">
            <a:avLst/>
          </a:prstGeom>
          <a:solidFill>
            <a:srgbClr val="F1E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800" b="1">
                <a:solidFill>
                  <a:srgbClr val="1B2A4A"/>
                </a:solidFill>
              </a:rPr>
              <a:t>Значение для государственности: </a:t>
            </a:r>
            <a:r>
              <a:rPr sz="1800">
                <a:solidFill>
                  <a:srgbClr val="222222"/>
                </a:solidFill>
              </a:rPr>
              <a:t>Для государственности: разрушен миф о непобедимости Орды, начало единства русских земель вокруг Москвы.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617720"/>
            <a:ext cx="82296" cy="14173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Основы российской государственности  •  Ключевые военные победы России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7280"/>
                </a:solidFill>
              </a:defRPr>
            </a:pPr>
            <a: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9A227"/>
                </a:solidFill>
              </a:defRPr>
            </a:pPr>
            <a:r>
              <a:t>1612  •  Минин и Пожарский</a:t>
            </a:r>
          </a:p>
          <a:p>
            <a:pPr>
              <a:defRPr sz="3000" b="1">
                <a:solidFill>
                  <a:srgbClr val="FFFFFF"/>
                </a:solidFill>
              </a:defRPr>
            </a:pPr>
            <a:r>
              <a:t>Освобождение Москвы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Противник: </a:t>
            </a:r>
            <a:r>
              <a:rPr sz="1900">
                <a:solidFill>
                  <a:srgbClr val="222222"/>
                </a:solidFill>
              </a:rPr>
              <a:t>польский гарнизон в Кремле, войско гетмана Ходкевича.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Что было: </a:t>
            </a:r>
            <a:r>
              <a:rPr sz="1900">
                <a:solidFill>
                  <a:srgbClr val="222222"/>
                </a:solidFill>
              </a:rPr>
              <a:t>Второе ополчение разбило Ходкевича; 4 ноября — капитуляция гарнизона.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Итог: </a:t>
            </a:r>
            <a:r>
              <a:rPr sz="1900">
                <a:solidFill>
                  <a:srgbClr val="222222"/>
                </a:solidFill>
              </a:rPr>
              <a:t>конец Смутного времени, избрание Романовых в 1613 году.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617720"/>
            <a:ext cx="10881360" cy="1417320"/>
          </a:xfrm>
          <a:prstGeom prst="rect">
            <a:avLst/>
          </a:prstGeom>
          <a:solidFill>
            <a:srgbClr val="F1E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800" b="1">
                <a:solidFill>
                  <a:srgbClr val="1B2A4A"/>
                </a:solidFill>
              </a:rPr>
              <a:t>Значение для государственности: </a:t>
            </a:r>
            <a:r>
              <a:rPr sz="1800">
                <a:solidFill>
                  <a:srgbClr val="222222"/>
                </a:solidFill>
              </a:rPr>
              <a:t>Для государственности: народ спас государство, когда оно почти исчезло. Праздник — День народного единства.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617720"/>
            <a:ext cx="82296" cy="14173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Основы российской государственности  •  Ключевые военные победы России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7280"/>
                </a:solidFill>
              </a:defRPr>
            </a:pPr>
            <a: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9A227"/>
                </a:solidFill>
              </a:defRPr>
            </a:pPr>
            <a:r>
              <a:t>1709  •  Пётр I</a:t>
            </a:r>
          </a:p>
          <a:p>
            <a:pPr>
              <a:defRPr sz="3000" b="1">
                <a:solidFill>
                  <a:srgbClr val="FFFFFF"/>
                </a:solidFill>
              </a:defRPr>
            </a:pPr>
            <a:r>
              <a:t>Полтавская битва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Противник: </a:t>
            </a:r>
            <a:r>
              <a:rPr sz="1900">
                <a:solidFill>
                  <a:srgbClr val="222222"/>
                </a:solidFill>
              </a:rPr>
              <a:t>армия шведского короля Карла XII.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Что было: </a:t>
            </a:r>
            <a:r>
              <a:rPr sz="1900">
                <a:solidFill>
                  <a:srgbClr val="222222"/>
                </a:solidFill>
              </a:rPr>
              <a:t>разгром шведов под Полтавой; день славы — 10 июля.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Итог: </a:t>
            </a:r>
            <a:r>
              <a:rPr sz="1900">
                <a:solidFill>
                  <a:srgbClr val="222222"/>
                </a:solidFill>
              </a:rPr>
              <a:t>перелом Северной войны, выход к Балтике, статус великой державы.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617720"/>
            <a:ext cx="10881360" cy="1417320"/>
          </a:xfrm>
          <a:prstGeom prst="rect">
            <a:avLst/>
          </a:prstGeom>
          <a:solidFill>
            <a:srgbClr val="F1E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800" b="1">
                <a:solidFill>
                  <a:srgbClr val="1B2A4A"/>
                </a:solidFill>
              </a:rPr>
              <a:t>Значение для государственности: </a:t>
            </a:r>
            <a:r>
              <a:rPr sz="1800">
                <a:solidFill>
                  <a:srgbClr val="222222"/>
                </a:solidFill>
              </a:rPr>
              <a:t>Для государственности: рождение Российской империи (1721) как европейской великой державы.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617720"/>
            <a:ext cx="82296" cy="14173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Основы российской государственности  •  Ключевые военные победы России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7280"/>
                </a:solidFill>
              </a:defRPr>
            </a:pPr>
            <a: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9A227"/>
                </a:solidFill>
              </a:defRPr>
            </a:pPr>
            <a:r>
              <a:t>1812  •  М. И. Кутузов</a:t>
            </a:r>
          </a:p>
          <a:p>
            <a:pPr>
              <a:defRPr sz="3000" b="1">
                <a:solidFill>
                  <a:srgbClr val="FFFFFF"/>
                </a:solidFill>
              </a:defRPr>
            </a:pPr>
            <a:r>
              <a:t>Бородино и победа 1812 года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Противник: </a:t>
            </a:r>
            <a:r>
              <a:rPr sz="1900">
                <a:solidFill>
                  <a:srgbClr val="222222"/>
                </a:solidFill>
              </a:rPr>
              <a:t>«Великая армия» Наполеона (600+ тысяч).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Что было: </a:t>
            </a:r>
            <a:r>
              <a:rPr sz="1900">
                <a:solidFill>
                  <a:srgbClr val="222222"/>
                </a:solidFill>
              </a:rPr>
              <a:t>Бородинское сражение 7 сентября; пожар Москвы; изгнание врага к декабрю.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Итог: </a:t>
            </a:r>
            <a:r>
              <a:rPr sz="1900">
                <a:solidFill>
                  <a:srgbClr val="222222"/>
                </a:solidFill>
              </a:rPr>
              <a:t>гибель армии Наполеона, в 1814 году русские войска вошли в Париж.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617720"/>
            <a:ext cx="10881360" cy="1417320"/>
          </a:xfrm>
          <a:prstGeom prst="rect">
            <a:avLst/>
          </a:prstGeom>
          <a:solidFill>
            <a:srgbClr val="F1E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800" b="1">
                <a:solidFill>
                  <a:srgbClr val="1B2A4A"/>
                </a:solidFill>
              </a:rPr>
              <a:t>Значение для государственности: </a:t>
            </a:r>
            <a:r>
              <a:rPr sz="1800">
                <a:solidFill>
                  <a:srgbClr val="222222"/>
                </a:solidFill>
              </a:rPr>
              <a:t>Для государственности: Россия отстояла независимость и освободила Европу; рождение идеи Отечественной войны.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617720"/>
            <a:ext cx="82296" cy="14173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Основы российской государственности  •  Ключевые военные победы России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7280"/>
                </a:solidFill>
              </a:defRPr>
            </a:pPr>
            <a: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9A227"/>
                </a:solidFill>
              </a:defRPr>
            </a:pPr>
            <a:r>
              <a:t>1942–1943</a:t>
            </a:r>
          </a:p>
          <a:p>
            <a:pPr>
              <a:defRPr sz="3000" b="1">
                <a:solidFill>
                  <a:srgbClr val="FFFFFF"/>
                </a:solidFill>
              </a:defRPr>
            </a:pPr>
            <a:r>
              <a:t>Сталинград и Курск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Сталинград: </a:t>
            </a:r>
            <a:r>
              <a:rPr sz="1900">
                <a:solidFill>
                  <a:srgbClr val="222222"/>
                </a:solidFill>
              </a:rPr>
              <a:t>июль 1942 — 2 февраля 1943; окружение и капитуляция армии Паулюса.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Курск: </a:t>
            </a:r>
            <a:r>
              <a:rPr sz="1900">
                <a:solidFill>
                  <a:srgbClr val="222222"/>
                </a:solidFill>
              </a:rPr>
              <a:t>июль–август 1943; крупнейшее танковое сражение; крах немецкого наступления.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Итог: </a:t>
            </a:r>
            <a:r>
              <a:rPr sz="1900">
                <a:solidFill>
                  <a:srgbClr val="222222"/>
                </a:solidFill>
              </a:rPr>
              <a:t>коренной перелом Великой Отечественной войны.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617720"/>
            <a:ext cx="10881360" cy="1417320"/>
          </a:xfrm>
          <a:prstGeom prst="rect">
            <a:avLst/>
          </a:prstGeom>
          <a:solidFill>
            <a:srgbClr val="F1E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800" b="1">
                <a:solidFill>
                  <a:srgbClr val="1B2A4A"/>
                </a:solidFill>
              </a:rPr>
              <a:t>Значение для государственности: </a:t>
            </a:r>
            <a:r>
              <a:rPr sz="1800">
                <a:solidFill>
                  <a:srgbClr val="222222"/>
                </a:solidFill>
              </a:rPr>
              <a:t>Для государственности: страна выстояла на грани уничтожения и переломила ход войны.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617720"/>
            <a:ext cx="82296" cy="14173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Основы российской государственности  •  Ключевые военные победы России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7280"/>
                </a:solidFill>
              </a:defRPr>
            </a:pPr>
            <a: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9A227"/>
                </a:solidFill>
              </a:defRPr>
            </a:pPr>
            <a:r>
              <a:t>9 мая 1945</a:t>
            </a:r>
          </a:p>
          <a:p>
            <a:pPr>
              <a:defRPr sz="3000" b="1">
                <a:solidFill>
                  <a:srgbClr val="FFFFFF"/>
                </a:solidFill>
              </a:defRPr>
            </a:pPr>
            <a:r>
              <a:t>Взятие Берлина. Победа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Что было: </a:t>
            </a:r>
            <a:r>
              <a:rPr sz="1900">
                <a:solidFill>
                  <a:srgbClr val="222222"/>
                </a:solidFill>
              </a:rPr>
              <a:t>Берлинская операция 16 апреля — 8 мая; капитуляция Германии.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Цена: </a:t>
            </a:r>
            <a:r>
              <a:rPr sz="1900">
                <a:solidFill>
                  <a:srgbClr val="222222"/>
                </a:solidFill>
              </a:rPr>
              <a:t>около 27 млн жизней советских граждан.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Итог: </a:t>
            </a:r>
            <a:r>
              <a:rPr sz="1900">
                <a:solidFill>
                  <a:srgbClr val="222222"/>
                </a:solidFill>
              </a:rPr>
              <a:t>спасение страны и мира от нацизма.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617720"/>
            <a:ext cx="10881360" cy="1417320"/>
          </a:xfrm>
          <a:prstGeom prst="rect">
            <a:avLst/>
          </a:prstGeom>
          <a:solidFill>
            <a:srgbClr val="F1E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800" b="1">
                <a:solidFill>
                  <a:srgbClr val="1B2A4A"/>
                </a:solidFill>
              </a:rPr>
              <a:t>Значение для государственности: </a:t>
            </a:r>
            <a:r>
              <a:rPr sz="1800">
                <a:solidFill>
                  <a:srgbClr val="222222"/>
                </a:solidFill>
              </a:rPr>
              <a:t>Для государственности: Победа — основа современной исторической памяти и системы дней воинской славы.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617720"/>
            <a:ext cx="82296" cy="14173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Основы российской государственности  •  Ключевые военные победы России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7280"/>
                </a:solidFill>
              </a:defRPr>
            </a:pPr>
            <a: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9A227"/>
                </a:solidFill>
              </a:defRPr>
            </a:pPr>
            <a:r>
              <a:t>Вывод  •  связь с курсом</a:t>
            </a:r>
          </a:p>
          <a:p>
            <a:pPr>
              <a:defRPr sz="3000" b="1">
                <a:solidFill>
                  <a:srgbClr val="FFFFFF"/>
                </a:solidFill>
              </a:defRPr>
            </a:pPr>
            <a:r>
              <a:t>Что объединяет все победы?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1. Оборонительный характер. </a:t>
            </a:r>
            <a:r>
              <a:rPr sz="1900">
                <a:solidFill>
                  <a:srgbClr val="222222"/>
                </a:solidFill>
              </a:rPr>
              <a:t>Россия защищала свою землю и независимость.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2. Побеждал народ. </a:t>
            </a:r>
            <a:r>
              <a:rPr sz="1900">
                <a:solidFill>
                  <a:srgbClr val="222222"/>
                </a:solidFill>
              </a:rPr>
              <a:t>Ополчение 1612-го, партизаны 1812-го, добровольцы 1941-го.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3. Единство в критический момент. </a:t>
            </a:r>
            <a:r>
              <a:rPr sz="1900">
                <a:solidFill>
                  <a:srgbClr val="222222"/>
                </a:solidFill>
              </a:rPr>
              <a:t>Разрозненные княжества, сословия, народы — единый фронт.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4. Долгий след. </a:t>
            </a:r>
            <a:r>
              <a:rPr sz="1900">
                <a:solidFill>
                  <a:srgbClr val="222222"/>
                </a:solidFill>
              </a:rPr>
              <a:t>Каждая победа определяла развитие страны на десятилетия вперёд.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1B2A4A"/>
                </a:solidFill>
              </a:rPr>
              <a:t>5. Память как институт. </a:t>
            </a:r>
            <a:r>
              <a:rPr sz="1900">
                <a:solidFill>
                  <a:srgbClr val="222222"/>
                </a:solidFill>
              </a:rPr>
              <a:t>Дни воинской славы, 9 Мая, 4 Ноября — государство хранит память о победах.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Основы российской государственности  •  Ключевые военные победы России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355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7280"/>
                </a:solidFill>
              </a:defRPr>
            </a:pPr>
            <a: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9A227"/>
                </a:solidFill>
              </a:defRPr>
            </a:pPr>
            <a:r>
              <a:t>Актуальность  •  ФЗ № 32-ФЗ от 13.03.1995</a:t>
            </a:r>
          </a:p>
          <a:p>
            <a:pPr>
              <a:defRPr sz="3000" b="1">
                <a:solidFill>
                  <a:srgbClr val="FFFFFF"/>
                </a:solidFill>
              </a:defRPr>
            </a:pPr>
            <a:r>
              <a:t>Дни воинской славы: как государство хранит память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6949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1B2A4A"/>
                </a:solidFill>
              </a:rPr>
              <a:t>18 апреля — </a:t>
            </a:r>
            <a:r>
              <a:rPr sz="1700">
                <a:solidFill>
                  <a:srgbClr val="222222"/>
                </a:solidFill>
              </a:rPr>
              <a:t>Ледовое побоище (1242).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B2A4A"/>
                </a:solidFill>
              </a:rPr>
              <a:t>21 сентября — </a:t>
            </a:r>
            <a:r>
              <a:rPr sz="1700">
                <a:solidFill>
                  <a:srgbClr val="222222"/>
                </a:solidFill>
              </a:rPr>
              <a:t>Куликовская битва (1380).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B2A4A"/>
                </a:solidFill>
              </a:rPr>
              <a:t>4 ноября — </a:t>
            </a:r>
            <a:r>
              <a:rPr sz="1700">
                <a:solidFill>
                  <a:srgbClr val="222222"/>
                </a:solidFill>
              </a:rPr>
              <a:t>освобождение Москвы (1612), День народного единства.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B2A4A"/>
                </a:solidFill>
              </a:rPr>
              <a:t>10 июля — </a:t>
            </a:r>
            <a:r>
              <a:rPr sz="1700">
                <a:solidFill>
                  <a:srgbClr val="222222"/>
                </a:solidFill>
              </a:rPr>
              <a:t>Полтава (1709).    8 сентября — Бородино (1812).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B2A4A"/>
                </a:solidFill>
              </a:rPr>
              <a:t>2 февраля — </a:t>
            </a:r>
            <a:r>
              <a:rPr sz="1700">
                <a:solidFill>
                  <a:srgbClr val="222222"/>
                </a:solidFill>
              </a:rPr>
              <a:t>Сталинград (1943).    23 августа — Курск (1943).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B2A4A"/>
                </a:solidFill>
              </a:rPr>
              <a:t>9 мая — </a:t>
            </a:r>
            <a:r>
              <a:rPr sz="1700">
                <a:solidFill>
                  <a:srgbClr val="222222"/>
                </a:solidFill>
              </a:rPr>
              <a:t>День Победы (1945).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5279" y="1920240"/>
            <a:ext cx="3566160" cy="4023360"/>
          </a:xfrm>
          <a:prstGeom prst="rect">
            <a:avLst/>
          </a:prstGeom>
          <a:solidFill>
            <a:srgbClr val="F1E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800" b="1">
                <a:solidFill>
                  <a:srgbClr val="1B2A4A"/>
                </a:solidFill>
              </a:rPr>
              <a:t>Почему это актуально
</a:t>
            </a:r>
            <a:r>
              <a:rPr sz="1600">
                <a:solidFill>
                  <a:srgbClr val="222222"/>
                </a:solidFill>
              </a:rPr>
              <a:t>
Закон действующий, даты проверены на 2026 год. Государство закрепляет победы в календаре — это и есть политика исторической памяти.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Основы российской государственности  •  Ключевые военные победы России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7280"/>
                </a:solidFill>
              </a:defRPr>
            </a:pPr>
            <a: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Вывод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Военные победы России — это вехи сохранения российской государственности: суверенитета, единства и независимости — от Чудского озера до Берлина.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F1ECDF"/>
                </a:solidFill>
              </a:defRPr>
            </a:pPr>
            <a:r>
              <a:t>Источники: ФЗ № 32-ФЗ «О днях воинской славы»; Большая российская энциклопедия; Президентская библиотека им. Ельцина; Российская газета; материалы РВИО. Все даты сверены минимум по двум источникам.</a:t>
            </a:r>
          </a:p>
          <a:p>
            <a:pPr>
              <a:defRPr sz="2000" b="1">
                <a:solidFill>
                  <a:srgbClr val="C9A227"/>
                </a:solidFill>
              </a:defRPr>
            </a:pPr>
            <a:r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