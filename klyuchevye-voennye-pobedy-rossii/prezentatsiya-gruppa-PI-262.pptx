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Титул: тема, состав группы. 15 секунд.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Введение 30 сек: охватываем все периоды, критерий — влияние на историю.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Тактика: слабый центр, сильные фланги, окружение. Цифры — оценки, точных нет. Время — 40–50 секунд на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Главное: засадный полк и то, что полки разных княжеств бились как единое войско. Время — 40–50 секунд на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этапа: разбили деблокаду, потом дожали гарнизон голодом. Победа ополчения, не царя. Время — 40–50 секунд на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Сильные факты: 20 штурмов, редуты, артиллерия, разгром за 2 часа, Переволочна. Время — 40–50 секунд на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Честно: Бородино — не отдельная победа, а часть кампании. Стратегически — победа. Время — 40–50 секунд на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фазы: выстоять — окружить — уничтожить. Даты «Урана» и капитуляции — точно. Время — 40–50 секунд на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Логика: вымотать в обороне — разбить в наступлении. Прохоровка и первый салют. Время — 40–50 секунд на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 линии: назвать фронты, Рейхстаг, цену Победы. Пауза перед 27 млн. Время — 40–50 секунд на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сек: показать, что группа осознанно ограничилась историческими победами. Сильный ход.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Вывод 30 сек: три слова — защита, перелом, государственность.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Финал: источники + благодарность. Если спросят про цифры — по старым векам это оценки.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3AA4C"/>
                </a:solidFill>
                <a:latin typeface="Aptos"/>
              </a:defRPr>
            </a:pPr>
            <a:r>
              <a:t>ОСНОВЫ РОССИЙСКОЙ ГОСУДАРСТВЕННОСТИ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1463040" cy="54864"/>
          </a:xfrm>
          <a:prstGeom prst="round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6F8"/>
                </a:solidFill>
                <a:latin typeface="Aptos"/>
              </a:defRPr>
            </a:pPr>
            <a:r>
              <a:t>Ключевые военные победы в истории России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EB8C5"/>
                </a:solidFill>
                <a:latin typeface="Aptos"/>
              </a:defRPr>
            </a:pPr>
            <a:r>
              <a:t>От русских княжеств до победы в Великой Отечественной войне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840480"/>
            <a:ext cx="5029200" cy="2011680"/>
          </a:xfrm>
          <a:prstGeom prst="roundRect">
            <a:avLst/>
          </a:prstGeom>
          <a:solidFill>
            <a:srgbClr val="16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/>
            <a:r>
              <a:rPr sz="1200" b="1">
                <a:solidFill>
                  <a:srgbClr val="D3AA4C"/>
                </a:solidFill>
                <a:latin typeface="Aptos"/>
              </a:rPr>
              <a:t>ВЫПОЛНИЛИ
</a:t>
            </a:r>
            <a:r>
              <a:rPr sz="1600">
                <a:solidFill>
                  <a:srgbClr val="F5F6F8"/>
                </a:solidFill>
                <a:latin typeface="Aptos"/>
              </a:rPr>
              <a:t>Антонов Савелий • Романов Даниил
Данилов Матвей • Ващенко Роман
Группа ПИ-262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448056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AEB8C5"/>
                </a:solidFill>
                <a:latin typeface="Aptos"/>
              </a:defRPr>
            </a:pPr>
            <a:r>
              <a:t>Доклад • 5–7 минут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EB8C5"/>
                </a:solidFill>
                <a:latin typeface="Aptos"/>
              </a:defRPr>
            </a:pPr>
            <a:r>
              <a:t>Основы российской государственности •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3AA4C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AA4C"/>
                </a:solidFill>
                <a:latin typeface="Aptos"/>
              </a:defRPr>
            </a:pPr>
            <a:r>
              <a:t>ВВЕДЕНИЕ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6F8"/>
                </a:solidFill>
                <a:latin typeface="Aptos"/>
              </a:defRPr>
            </a:pPr>
            <a:r>
              <a:t>О каких победах идёт речь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57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3AA4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881360" cy="27432"/>
          </a:xfrm>
          <a:prstGeom prst="round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5F6F8"/>
                </a:solidFill>
                <a:latin typeface="Aptos"/>
              </a:defRPr>
            </a:pPr>
            <a:r>
              <a:t>Не только современная РФ, а военные победы разных периодов российской истории.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3474720" cy="1554480"/>
          </a:xfrm>
          <a:prstGeom prst="roundRect">
            <a:avLst/>
          </a:prstGeom>
          <a:solidFill>
            <a:srgbClr val="16253A"/>
          </a:solidFill>
          <a:ln w="19050">
            <a:solidFill>
              <a:srgbClr val="D3A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2200" b="1">
                <a:solidFill>
                  <a:srgbClr val="D3AA4C"/>
                </a:solidFill>
                <a:latin typeface="Aptos"/>
              </a:rPr>
              <a:t>1242–1380
</a:t>
            </a:r>
            <a:r>
              <a:rPr sz="1500">
                <a:solidFill>
                  <a:srgbClr val="F5F6F8"/>
                </a:solidFill>
                <a:latin typeface="Aptos"/>
              </a:rPr>
              <a:t>Русские княжества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834640"/>
            <a:ext cx="3474720" cy="1554480"/>
          </a:xfrm>
          <a:prstGeom prst="roundRect">
            <a:avLst/>
          </a:prstGeom>
          <a:solidFill>
            <a:srgbClr val="16253A"/>
          </a:solidFill>
          <a:ln w="19050">
            <a:solidFill>
              <a:srgbClr val="D3A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2200" b="1">
                <a:solidFill>
                  <a:srgbClr val="D3AA4C"/>
                </a:solidFill>
                <a:latin typeface="Aptos"/>
              </a:rPr>
              <a:t>1612–1812
</a:t>
            </a:r>
            <a:r>
              <a:rPr sz="1500">
                <a:solidFill>
                  <a:srgbClr val="F5F6F8"/>
                </a:solidFill>
                <a:latin typeface="Aptos"/>
              </a:rPr>
              <a:t>Русское государство и империя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9" y="2834640"/>
            <a:ext cx="3474720" cy="1554480"/>
          </a:xfrm>
          <a:prstGeom prst="roundRect">
            <a:avLst/>
          </a:prstGeom>
          <a:solidFill>
            <a:srgbClr val="16253A"/>
          </a:solidFill>
          <a:ln w="19050">
            <a:solidFill>
              <a:srgbClr val="D3A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2200" b="1">
                <a:solidFill>
                  <a:srgbClr val="D3AA4C"/>
                </a:solidFill>
                <a:latin typeface="Aptos"/>
              </a:rPr>
              <a:t>1942–1945
</a:t>
            </a:r>
            <a:r>
              <a:rPr sz="1500">
                <a:solidFill>
                  <a:srgbClr val="F5F6F8"/>
                </a:solidFill>
                <a:latin typeface="Aptos"/>
              </a:rPr>
              <a:t>СССР в Великой Отечественной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EB8C5"/>
                </a:solidFill>
                <a:latin typeface="Aptos"/>
              </a:defRPr>
            </a:pPr>
            <a:r>
              <a:t>Критерий: не просто выигранный бой, а влияние победы на ход войны и развитие государства.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EB8C5"/>
                </a:solidFill>
                <a:latin typeface="Aptos"/>
              </a:defRPr>
            </a:pPr>
            <a:r>
              <a:t>Основы российской государственности •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3AA4C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AA4C"/>
                </a:solidFill>
                <a:latin typeface="Aptos"/>
              </a:defRPr>
            </a:pPr>
            <a:r>
              <a:t>1242 • ЧУДСКОЕ ОЗЕРО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6F8"/>
                </a:solidFill>
                <a:latin typeface="Aptos"/>
              </a:defRPr>
            </a:pPr>
            <a:r>
              <a:t>Ледовое побоище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57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3AA4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881360" cy="27432"/>
          </a:xfrm>
          <a:prstGeom prst="round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7223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Силы: </a:t>
            </a:r>
            <a:r>
              <a:rPr sz="1500">
                <a:solidFill>
                  <a:srgbClr val="F5F6F8"/>
                </a:solidFill>
                <a:latin typeface="Aptos"/>
              </a:rPr>
              <a:t>несколько тысяч с каждой стороны (точные данные не сохранились).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Ход боя: </a:t>
            </a:r>
            <a:r>
              <a:rPr sz="1500">
                <a:solidFill>
                  <a:srgbClr val="F5F6F8"/>
                </a:solidFill>
                <a:latin typeface="Aptos"/>
              </a:rPr>
              <a:t>слабый центр заманил рыцарскую «свинью», фланги окружили её на льду.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Потери врага: </a:t>
            </a:r>
            <a:r>
              <a:rPr sz="1500">
                <a:solidFill>
                  <a:srgbClr val="F5F6F8"/>
                </a:solidFill>
                <a:latin typeface="Aptos"/>
              </a:rPr>
              <a:t>сотни рыцарей погибли, часть войска взята в плен.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После боя: </a:t>
            </a:r>
            <a:r>
              <a:rPr sz="1500">
                <a:solidFill>
                  <a:srgbClr val="F5F6F8"/>
                </a:solidFill>
                <a:latin typeface="Aptos"/>
              </a:rPr>
              <a:t>Орден запросил мир, отказался от претензий на Псков и Новгород.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920240"/>
            <a:ext cx="3291840" cy="3977639"/>
          </a:xfrm>
          <a:prstGeom prst="roundRect">
            <a:avLst/>
          </a:prstGeom>
          <a:solidFill>
            <a:srgbClr val="16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/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ДАТА
</a:t>
            </a:r>
            <a:r>
              <a:rPr sz="1400">
                <a:solidFill>
                  <a:srgbClr val="F5F6F8"/>
                </a:solidFill>
                <a:latin typeface="Aptos"/>
              </a:rPr>
              <a:t>5 апреля 1242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МЕСТО
</a:t>
            </a:r>
            <a:r>
              <a:rPr sz="1400">
                <a:solidFill>
                  <a:srgbClr val="F5F6F8"/>
                </a:solidFill>
                <a:latin typeface="Aptos"/>
              </a:rPr>
              <a:t>Чудское озеро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ПОЛКОВОДЕЦ
</a:t>
            </a:r>
            <a:r>
              <a:rPr sz="1400">
                <a:solidFill>
                  <a:srgbClr val="F5F6F8"/>
                </a:solidFill>
                <a:latin typeface="Aptos"/>
              </a:rPr>
              <a:t>Александр Невский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ПРОТИВНИК
</a:t>
            </a:r>
            <a:r>
              <a:rPr sz="1400">
                <a:solidFill>
                  <a:srgbClr val="F5F6F8"/>
                </a:solidFill>
                <a:latin typeface="Aptos"/>
              </a:rPr>
              <a:t>Ливонский орден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120640"/>
            <a:ext cx="7223760" cy="914400"/>
          </a:xfrm>
          <a:prstGeom prst="roundRect">
            <a:avLst/>
          </a:prstGeom>
          <a:solidFill>
            <a:srgbClr val="16253A"/>
          </a:solidFill>
          <a:ln w="19050">
            <a:solidFill>
              <a:srgbClr val="D3A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>
                <a:solidFill>
                  <a:srgbClr val="D3AA4C"/>
                </a:solidFill>
                <a:latin typeface="Aptos"/>
              </a:rPr>
              <a:t>ИТОГ  </a:t>
            </a:r>
            <a:r>
              <a:rPr sz="1400">
                <a:solidFill>
                  <a:srgbClr val="F5F6F8"/>
                </a:solidFill>
                <a:latin typeface="Aptos"/>
              </a:rPr>
              <a:t>крестоносцы остановлены, северо-запад отстоян. День славы — 18 апреля.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EB8C5"/>
                </a:solidFill>
                <a:latin typeface="Aptos"/>
              </a:defRPr>
            </a:pPr>
            <a:r>
              <a:t>Основы российской государственности •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3AA4C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AA4C"/>
                </a:solidFill>
                <a:latin typeface="Aptos"/>
              </a:defRPr>
            </a:pPr>
            <a:r>
              <a:t>1380 • КУЛИКОВО ПОЛЕ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6F8"/>
                </a:solidFill>
                <a:latin typeface="Aptos"/>
              </a:defRPr>
            </a:pPr>
            <a:r>
              <a:t>Куликовская битва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57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3AA4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881360" cy="27432"/>
          </a:xfrm>
          <a:prstGeom prst="round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7223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Силы: </a:t>
            </a:r>
            <a:r>
              <a:rPr sz="1500">
                <a:solidFill>
                  <a:srgbClr val="F5F6F8"/>
                </a:solidFill>
                <a:latin typeface="Aptos"/>
              </a:rPr>
              <a:t>десятки тысяч с обеих сторон — оценки историков расходятся.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Ход боя: </a:t>
            </a:r>
            <a:r>
              <a:rPr sz="1500">
                <a:solidFill>
                  <a:srgbClr val="F5F6F8"/>
                </a:solidFill>
                <a:latin typeface="Aptos"/>
              </a:rPr>
              <a:t>тяжёлая сеча в центре; решающий удар засадного полка Боброка.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Цена: </a:t>
            </a:r>
            <a:r>
              <a:rPr sz="1500">
                <a:solidFill>
                  <a:srgbClr val="F5F6F8"/>
                </a:solidFill>
                <a:latin typeface="Aptos"/>
              </a:rPr>
              <a:t>потери русских огромны — полегло множество воевод и воинов.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После боя: </a:t>
            </a:r>
            <a:r>
              <a:rPr sz="1500">
                <a:solidFill>
                  <a:srgbClr val="F5F6F8"/>
                </a:solidFill>
                <a:latin typeface="Aptos"/>
              </a:rPr>
              <a:t>Мамай бежал; иго продлится ещё 100 лет, но страх сломан.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920240"/>
            <a:ext cx="3291840" cy="3977639"/>
          </a:xfrm>
          <a:prstGeom prst="roundRect">
            <a:avLst/>
          </a:prstGeom>
          <a:solidFill>
            <a:srgbClr val="16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/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ДАТА
</a:t>
            </a:r>
            <a:r>
              <a:rPr sz="1400">
                <a:solidFill>
                  <a:srgbClr val="F5F6F8"/>
                </a:solidFill>
                <a:latin typeface="Aptos"/>
              </a:rPr>
              <a:t>8 сентября 1380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МЕСТО
</a:t>
            </a:r>
            <a:r>
              <a:rPr sz="1400">
                <a:solidFill>
                  <a:srgbClr val="F5F6F8"/>
                </a:solidFill>
                <a:latin typeface="Aptos"/>
              </a:rPr>
              <a:t>Куликово поле, у Дона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ПОЛКОВОДЕЦ
</a:t>
            </a:r>
            <a:r>
              <a:rPr sz="1400">
                <a:solidFill>
                  <a:srgbClr val="F5F6F8"/>
                </a:solidFill>
                <a:latin typeface="Aptos"/>
              </a:rPr>
              <a:t>Дмитрий Донской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ПРОТИВНИК
</a:t>
            </a:r>
            <a:r>
              <a:rPr sz="1400">
                <a:solidFill>
                  <a:srgbClr val="F5F6F8"/>
                </a:solidFill>
                <a:latin typeface="Aptos"/>
              </a:rPr>
              <a:t>войско хана Мамая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120640"/>
            <a:ext cx="7223760" cy="914400"/>
          </a:xfrm>
          <a:prstGeom prst="roundRect">
            <a:avLst/>
          </a:prstGeom>
          <a:solidFill>
            <a:srgbClr val="16253A"/>
          </a:solidFill>
          <a:ln w="19050">
            <a:solidFill>
              <a:srgbClr val="D3A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>
                <a:solidFill>
                  <a:srgbClr val="D3AA4C"/>
                </a:solidFill>
                <a:latin typeface="Aptos"/>
              </a:rPr>
              <a:t>ИТОГ  </a:t>
            </a:r>
            <a:r>
              <a:rPr sz="1400">
                <a:solidFill>
                  <a:srgbClr val="F5F6F8"/>
                </a:solidFill>
                <a:latin typeface="Aptos"/>
              </a:rPr>
              <a:t>первая победа объединённого войска над Ордой. День славы — 21 сентября.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EB8C5"/>
                </a:solidFill>
                <a:latin typeface="Aptos"/>
              </a:defRPr>
            </a:pPr>
            <a:r>
              <a:t>Основы российской государственности •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3AA4C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AA4C"/>
                </a:solidFill>
                <a:latin typeface="Aptos"/>
              </a:defRPr>
            </a:pPr>
            <a:r>
              <a:t>1612 • МОСКВА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6F8"/>
                </a:solidFill>
                <a:latin typeface="Aptos"/>
              </a:defRPr>
            </a:pPr>
            <a:r>
              <a:t>Освобождение Москвы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57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3AA4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881360" cy="27432"/>
          </a:xfrm>
          <a:prstGeom prst="round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7223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22–24 августа: </a:t>
            </a:r>
            <a:r>
              <a:rPr sz="1500">
                <a:solidFill>
                  <a:srgbClr val="F5F6F8"/>
                </a:solidFill>
                <a:latin typeface="Aptos"/>
              </a:rPr>
              <a:t>ополчение отбило все попытки Ходкевича прорваться в Кремль.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Осада: </a:t>
            </a:r>
            <a:r>
              <a:rPr sz="1500">
                <a:solidFill>
                  <a:srgbClr val="F5F6F8"/>
                </a:solidFill>
                <a:latin typeface="Aptos"/>
              </a:rPr>
              <a:t>гарнизон остался без еды и помощи.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26 октября (4 ноября): </a:t>
            </a:r>
            <a:r>
              <a:rPr sz="1500">
                <a:solidFill>
                  <a:srgbClr val="F5F6F8"/>
                </a:solidFill>
                <a:latin typeface="Aptos"/>
              </a:rPr>
              <a:t>капитуляция польского гарнизона Кремля.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После: </a:t>
            </a:r>
            <a:r>
              <a:rPr sz="1500">
                <a:solidFill>
                  <a:srgbClr val="F5F6F8"/>
                </a:solidFill>
                <a:latin typeface="Aptos"/>
              </a:rPr>
              <a:t>в 1613 году избран Михаил Романов — конец Смуты.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920240"/>
            <a:ext cx="3291840" cy="3977639"/>
          </a:xfrm>
          <a:prstGeom prst="roundRect">
            <a:avLst/>
          </a:prstGeom>
          <a:solidFill>
            <a:srgbClr val="16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/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ДАТЫ
</a:t>
            </a:r>
            <a:r>
              <a:rPr sz="1400">
                <a:solidFill>
                  <a:srgbClr val="F5F6F8"/>
                </a:solidFill>
                <a:latin typeface="Aptos"/>
              </a:rPr>
              <a:t>август — октябрь 1612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МЕСТО
</a:t>
            </a:r>
            <a:r>
              <a:rPr sz="1400">
                <a:solidFill>
                  <a:srgbClr val="F5F6F8"/>
                </a:solidFill>
                <a:latin typeface="Aptos"/>
              </a:rPr>
              <a:t>Москва, Кремль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РУКОВОДИТЕЛИ
</a:t>
            </a:r>
            <a:r>
              <a:rPr sz="1400">
                <a:solidFill>
                  <a:srgbClr val="F5F6F8"/>
                </a:solidFill>
                <a:latin typeface="Aptos"/>
              </a:rPr>
              <a:t>Минин и Пожарский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ПРОТИВНИК
</a:t>
            </a:r>
            <a:r>
              <a:rPr sz="1400">
                <a:solidFill>
                  <a:srgbClr val="F5F6F8"/>
                </a:solidFill>
                <a:latin typeface="Aptos"/>
              </a:rPr>
              <a:t>польский гарнизон, гетман Ходкевич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120640"/>
            <a:ext cx="7223760" cy="914400"/>
          </a:xfrm>
          <a:prstGeom prst="roundRect">
            <a:avLst/>
          </a:prstGeom>
          <a:solidFill>
            <a:srgbClr val="16253A"/>
          </a:solidFill>
          <a:ln w="19050">
            <a:solidFill>
              <a:srgbClr val="D3A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>
                <a:solidFill>
                  <a:srgbClr val="D3AA4C"/>
                </a:solidFill>
                <a:latin typeface="Aptos"/>
              </a:rPr>
              <a:t>ИТОГ  </a:t>
            </a:r>
            <a:r>
              <a:rPr sz="1400">
                <a:solidFill>
                  <a:srgbClr val="F5F6F8"/>
                </a:solidFill>
                <a:latin typeface="Aptos"/>
              </a:rPr>
              <a:t>народ спас государство, когда его почти не было. 4 ноября — День народного единства.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EB8C5"/>
                </a:solidFill>
                <a:latin typeface="Aptos"/>
              </a:defRPr>
            </a:pPr>
            <a:r>
              <a:t>Основы российской государственности •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3AA4C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AA4C"/>
                </a:solidFill>
                <a:latin typeface="Aptos"/>
              </a:defRPr>
            </a:pPr>
            <a:r>
              <a:t>1709 • ПОЛТАВА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6F8"/>
                </a:solidFill>
                <a:latin typeface="Aptos"/>
              </a:defRPr>
            </a:pPr>
            <a:r>
              <a:t>Полтавская битва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57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3AA4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881360" cy="27432"/>
          </a:xfrm>
          <a:prstGeom prst="round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7223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Перед боем: </a:t>
            </a:r>
            <a:r>
              <a:rPr sz="1500">
                <a:solidFill>
                  <a:srgbClr val="F5F6F8"/>
                </a:solidFill>
                <a:latin typeface="Aptos"/>
              </a:rPr>
              <a:t>гарнизон Полтавы выдержал 20 штурмов и дал Петру время.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Силы: </a:t>
            </a:r>
            <a:r>
              <a:rPr sz="1500">
                <a:solidFill>
                  <a:srgbClr val="F5F6F8"/>
                </a:solidFill>
                <a:latin typeface="Aptos"/>
              </a:rPr>
              <a:t>≈42 тыс. и 100+ орудий против ≈17–20 тыс. шведов с 4 орудиями.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Ход боя: </a:t>
            </a:r>
            <a:r>
              <a:rPr sz="1500">
                <a:solidFill>
                  <a:srgbClr val="F5F6F8"/>
                </a:solidFill>
                <a:latin typeface="Aptos"/>
              </a:rPr>
              <a:t>редуты измотали шведов; 2 часа решающего боя — и армия Карла бежит.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Потери: </a:t>
            </a:r>
            <a:r>
              <a:rPr sz="1500">
                <a:solidFill>
                  <a:srgbClr val="F5F6F8"/>
                </a:solidFill>
                <a:latin typeface="Aptos"/>
              </a:rPr>
              <a:t>шведы — 9+ тыс. убитых, ~19 тыс. пленных; русские — 1345 убитых, 3290 раненых.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920240"/>
            <a:ext cx="3291840" cy="3977639"/>
          </a:xfrm>
          <a:prstGeom prst="roundRect">
            <a:avLst/>
          </a:prstGeom>
          <a:solidFill>
            <a:srgbClr val="16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/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ДАТА
</a:t>
            </a:r>
            <a:r>
              <a:rPr sz="1400">
                <a:solidFill>
                  <a:srgbClr val="F5F6F8"/>
                </a:solidFill>
                <a:latin typeface="Aptos"/>
              </a:rPr>
              <a:t>8 июля (27 июня) 1709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МЕСТО
</a:t>
            </a:r>
            <a:r>
              <a:rPr sz="1400">
                <a:solidFill>
                  <a:srgbClr val="F5F6F8"/>
                </a:solidFill>
                <a:latin typeface="Aptos"/>
              </a:rPr>
              <a:t>под Полтавой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ПОЛКОВОДЕЦ
</a:t>
            </a:r>
            <a:r>
              <a:rPr sz="1400">
                <a:solidFill>
                  <a:srgbClr val="F5F6F8"/>
                </a:solidFill>
                <a:latin typeface="Aptos"/>
              </a:rPr>
              <a:t>Пётр I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ПРОТИВНИК
</a:t>
            </a:r>
            <a:r>
              <a:rPr sz="1400">
                <a:solidFill>
                  <a:srgbClr val="F5F6F8"/>
                </a:solidFill>
                <a:latin typeface="Aptos"/>
              </a:rPr>
              <a:t>Карл XII, Швеция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120640"/>
            <a:ext cx="7223760" cy="914400"/>
          </a:xfrm>
          <a:prstGeom prst="roundRect">
            <a:avLst/>
          </a:prstGeom>
          <a:solidFill>
            <a:srgbClr val="16253A"/>
          </a:solidFill>
          <a:ln w="19050">
            <a:solidFill>
              <a:srgbClr val="D3A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>
                <a:solidFill>
                  <a:srgbClr val="D3AA4C"/>
                </a:solidFill>
                <a:latin typeface="Aptos"/>
              </a:rPr>
              <a:t>ИТОГ  </a:t>
            </a:r>
            <a:r>
              <a:rPr sz="1400">
                <a:solidFill>
                  <a:srgbClr val="F5F6F8"/>
                </a:solidFill>
                <a:latin typeface="Aptos"/>
              </a:rPr>
              <a:t>перелом Северной войны, выход к Балтике. День славы — 10 июля.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EB8C5"/>
                </a:solidFill>
                <a:latin typeface="Aptos"/>
              </a:defRPr>
            </a:pPr>
            <a:r>
              <a:t>Основы российской государственности •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3AA4C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AA4C"/>
                </a:solidFill>
                <a:latin typeface="Aptos"/>
              </a:defRPr>
            </a:pPr>
            <a:r>
              <a:t>1812 • БОРОДИНО — МОСКВА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6F8"/>
                </a:solidFill>
                <a:latin typeface="Aptos"/>
              </a:defRPr>
            </a:pPr>
            <a:r>
              <a:t>Отечественная война 1812 года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57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3AA4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881360" cy="27432"/>
          </a:xfrm>
          <a:prstGeom prst="round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7223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Силы при Бородине: </a:t>
            </a:r>
            <a:r>
              <a:rPr sz="1500">
                <a:solidFill>
                  <a:srgbClr val="F5F6F8"/>
                </a:solidFill>
                <a:latin typeface="Aptos"/>
              </a:rPr>
              <a:t>≈120–150 тыс. против ≈135 тыс.; потери — десятки тысяч с обеих сторон.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Ход боя: </a:t>
            </a:r>
            <a:r>
              <a:rPr sz="1500">
                <a:solidFill>
                  <a:srgbClr val="F5F6F8"/>
                </a:solidFill>
                <a:latin typeface="Aptos"/>
              </a:rPr>
              <a:t>флеши и батарея Раевского по 8 раз переходили из рук в руки.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Замысел Кутузова: </a:t>
            </a:r>
            <a:r>
              <a:rPr sz="1500">
                <a:solidFill>
                  <a:srgbClr val="F5F6F8"/>
                </a:solidFill>
                <a:latin typeface="Aptos"/>
              </a:rPr>
              <a:t>русские отошли, но сохранили армию; Москва стала для врага ловушкой.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Финал: </a:t>
            </a:r>
            <a:r>
              <a:rPr sz="1500">
                <a:solidFill>
                  <a:srgbClr val="F5F6F8"/>
                </a:solidFill>
                <a:latin typeface="Aptos"/>
              </a:rPr>
              <a:t>пожары, голод, морозы, партизаны — к декабрю армия Наполеона уничтожена.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920240"/>
            <a:ext cx="3291840" cy="3977639"/>
          </a:xfrm>
          <a:prstGeom prst="roundRect">
            <a:avLst/>
          </a:prstGeom>
          <a:solidFill>
            <a:srgbClr val="16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/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ДАТЫ
</a:t>
            </a:r>
            <a:r>
              <a:rPr sz="1400">
                <a:solidFill>
                  <a:srgbClr val="F5F6F8"/>
                </a:solidFill>
                <a:latin typeface="Aptos"/>
              </a:rPr>
              <a:t>июнь — декабрь 1812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ГЛАВНОЕ СРАЖЕНИЕ
</a:t>
            </a:r>
            <a:r>
              <a:rPr sz="1400">
                <a:solidFill>
                  <a:srgbClr val="F5F6F8"/>
                </a:solidFill>
                <a:latin typeface="Aptos"/>
              </a:rPr>
              <a:t>Бородино, 7 сентября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ПОЛКОВОДЕЦ
</a:t>
            </a:r>
            <a:r>
              <a:rPr sz="1400">
                <a:solidFill>
                  <a:srgbClr val="F5F6F8"/>
                </a:solidFill>
                <a:latin typeface="Aptos"/>
              </a:rPr>
              <a:t>М. И. Кутузов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ПРОТИВНИК
</a:t>
            </a:r>
            <a:r>
              <a:rPr sz="1400">
                <a:solidFill>
                  <a:srgbClr val="F5F6F8"/>
                </a:solidFill>
                <a:latin typeface="Aptos"/>
              </a:rPr>
              <a:t>Наполеон, «Великая армия»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120640"/>
            <a:ext cx="7223760" cy="914400"/>
          </a:xfrm>
          <a:prstGeom prst="roundRect">
            <a:avLst/>
          </a:prstGeom>
          <a:solidFill>
            <a:srgbClr val="16253A"/>
          </a:solidFill>
          <a:ln w="19050">
            <a:solidFill>
              <a:srgbClr val="D3A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>
                <a:solidFill>
                  <a:srgbClr val="D3AA4C"/>
                </a:solidFill>
                <a:latin typeface="Aptos"/>
              </a:rPr>
              <a:t>ИТОГ  </a:t>
            </a:r>
            <a:r>
              <a:rPr sz="1400">
                <a:solidFill>
                  <a:srgbClr val="F5F6F8"/>
                </a:solidFill>
                <a:latin typeface="Aptos"/>
              </a:rPr>
              <a:t>Россия выстояла; в 1814 русские вошли в Париж. День Бородина — 8 сентября.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EB8C5"/>
                </a:solidFill>
                <a:latin typeface="Aptos"/>
              </a:defRPr>
            </a:pPr>
            <a:r>
              <a:t>Основы российской государственности •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3AA4C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AA4C"/>
                </a:solidFill>
                <a:latin typeface="Aptos"/>
              </a:defRPr>
            </a:pPr>
            <a:r>
              <a:t>1942–1943 • СТАЛИНГРАД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6F8"/>
                </a:solidFill>
                <a:latin typeface="Aptos"/>
              </a:defRPr>
            </a:pPr>
            <a:r>
              <a:t>Сталинградская битва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57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3AA4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881360" cy="27432"/>
          </a:xfrm>
          <a:prstGeom prst="round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7223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Оборона: </a:t>
            </a:r>
            <a:r>
              <a:rPr sz="1500">
                <a:solidFill>
                  <a:srgbClr val="F5F6F8"/>
                </a:solidFill>
                <a:latin typeface="Aptos"/>
              </a:rPr>
              <a:t>июль–ноябрь: бои за каждый дом, город удержан на полосе у Волги.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Перелом: </a:t>
            </a:r>
            <a:r>
              <a:rPr sz="1500">
                <a:solidFill>
                  <a:srgbClr val="F5F6F8"/>
                </a:solidFill>
                <a:latin typeface="Aptos"/>
              </a:rPr>
              <a:t>удары по флангам — окружение ~300-тысячной группировки.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Кольцо: </a:t>
            </a:r>
            <a:r>
              <a:rPr sz="1500">
                <a:solidFill>
                  <a:srgbClr val="F5F6F8"/>
                </a:solidFill>
                <a:latin typeface="Aptos"/>
              </a:rPr>
              <a:t>срыв деблокады Манштейна, сжатие котла.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2 февраля 1943: </a:t>
            </a:r>
            <a:r>
              <a:rPr sz="1500">
                <a:solidFill>
                  <a:srgbClr val="F5F6F8"/>
                </a:solidFill>
                <a:latin typeface="Aptos"/>
              </a:rPr>
              <a:t>капитуляция Паулюса. Потери сторон — более миллиона человек.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920240"/>
            <a:ext cx="3291840" cy="3977639"/>
          </a:xfrm>
          <a:prstGeom prst="roundRect">
            <a:avLst/>
          </a:prstGeom>
          <a:solidFill>
            <a:srgbClr val="16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/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ДАТЫ
</a:t>
            </a:r>
            <a:r>
              <a:rPr sz="1400">
                <a:solidFill>
                  <a:srgbClr val="F5F6F8"/>
                </a:solidFill>
                <a:latin typeface="Aptos"/>
              </a:rPr>
              <a:t>17 июля 1942 — 2 февраля 1943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МЕСТО
</a:t>
            </a:r>
            <a:r>
              <a:rPr sz="1400">
                <a:solidFill>
                  <a:srgbClr val="F5F6F8"/>
                </a:solidFill>
                <a:latin typeface="Aptos"/>
              </a:rPr>
              <a:t>Сталинград, Волга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ОПЕРАЦИЯ
</a:t>
            </a:r>
            <a:r>
              <a:rPr sz="1400">
                <a:solidFill>
                  <a:srgbClr val="F5F6F8"/>
                </a:solidFill>
                <a:latin typeface="Aptos"/>
              </a:rPr>
              <a:t>«Уран», с 19 ноября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ПРОТИВНИК
</a:t>
            </a:r>
            <a:r>
              <a:rPr sz="1400">
                <a:solidFill>
                  <a:srgbClr val="F5F6F8"/>
                </a:solidFill>
                <a:latin typeface="Aptos"/>
              </a:rPr>
              <a:t>6-я армия Паулюса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120640"/>
            <a:ext cx="7223760" cy="914400"/>
          </a:xfrm>
          <a:prstGeom prst="roundRect">
            <a:avLst/>
          </a:prstGeom>
          <a:solidFill>
            <a:srgbClr val="16253A"/>
          </a:solidFill>
          <a:ln w="19050">
            <a:solidFill>
              <a:srgbClr val="D3A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>
                <a:solidFill>
                  <a:srgbClr val="D3AA4C"/>
                </a:solidFill>
                <a:latin typeface="Aptos"/>
              </a:rPr>
              <a:t>ИТОГ  </a:t>
            </a:r>
            <a:r>
              <a:rPr sz="1400">
                <a:solidFill>
                  <a:srgbClr val="F5F6F8"/>
                </a:solidFill>
                <a:latin typeface="Aptos"/>
              </a:rPr>
              <a:t>коренной перелом войны. День славы — 2 февраля.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EB8C5"/>
                </a:solidFill>
                <a:latin typeface="Aptos"/>
              </a:defRPr>
            </a:pPr>
            <a:r>
              <a:t>Основы российской государственности •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3AA4C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AA4C"/>
                </a:solidFill>
                <a:latin typeface="Aptos"/>
              </a:defRPr>
            </a:pPr>
            <a:r>
              <a:t>1943 • КУРСК — ОРЁЛ — ХАРЬКОВ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6F8"/>
                </a:solidFill>
                <a:latin typeface="Aptos"/>
              </a:defRPr>
            </a:pPr>
            <a:r>
              <a:t>Курская битва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57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3AA4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881360" cy="27432"/>
          </a:xfrm>
          <a:prstGeom prst="round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7223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Оборона: </a:t>
            </a:r>
            <a:r>
              <a:rPr sz="1500">
                <a:solidFill>
                  <a:srgbClr val="F5F6F8"/>
                </a:solidFill>
                <a:latin typeface="Aptos"/>
              </a:rPr>
              <a:t>немецкие клинья за неделю увязли в глубокой обороне.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Прохоровка: </a:t>
            </a:r>
            <a:r>
              <a:rPr sz="1500">
                <a:solidFill>
                  <a:srgbClr val="F5F6F8"/>
                </a:solidFill>
                <a:latin typeface="Aptos"/>
              </a:rPr>
              <a:t>крупнейшее встречное танковое сражение истории.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Наступление: </a:t>
            </a:r>
            <a:r>
              <a:rPr sz="1500">
                <a:solidFill>
                  <a:srgbClr val="F5F6F8"/>
                </a:solidFill>
                <a:latin typeface="Aptos"/>
              </a:rPr>
              <a:t>освобождены Орёл, Белгород, Харьков.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5 августа: </a:t>
            </a:r>
            <a:r>
              <a:rPr sz="1500">
                <a:solidFill>
                  <a:srgbClr val="F5F6F8"/>
                </a:solidFill>
                <a:latin typeface="Aptos"/>
              </a:rPr>
              <a:t>первый салют в Москве — в честь Орла и Белгорода.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920240"/>
            <a:ext cx="3291840" cy="3977639"/>
          </a:xfrm>
          <a:prstGeom prst="roundRect">
            <a:avLst/>
          </a:prstGeom>
          <a:solidFill>
            <a:srgbClr val="16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/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ДАТЫ
</a:t>
            </a:r>
            <a:r>
              <a:rPr sz="1400">
                <a:solidFill>
                  <a:srgbClr val="F5F6F8"/>
                </a:solidFill>
                <a:latin typeface="Aptos"/>
              </a:rPr>
              <a:t>5 июля — 23 августа 1943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МЕСТО
</a:t>
            </a:r>
            <a:r>
              <a:rPr sz="1400">
                <a:solidFill>
                  <a:srgbClr val="F5F6F8"/>
                </a:solidFill>
                <a:latin typeface="Aptos"/>
              </a:rPr>
              <a:t>Курский выступ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КУЛЬМИНАЦИЯ
</a:t>
            </a:r>
            <a:r>
              <a:rPr sz="1400">
                <a:solidFill>
                  <a:srgbClr val="F5F6F8"/>
                </a:solidFill>
                <a:latin typeface="Aptos"/>
              </a:rPr>
              <a:t>Прохоровка, 12 июля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ЗАМЫСЕЛ ВРАГА
</a:t>
            </a:r>
            <a:r>
              <a:rPr sz="1400">
                <a:solidFill>
                  <a:srgbClr val="F5F6F8"/>
                </a:solidFill>
                <a:latin typeface="Aptos"/>
              </a:rPr>
              <a:t>операция «Цитадель»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120640"/>
            <a:ext cx="7223760" cy="914400"/>
          </a:xfrm>
          <a:prstGeom prst="roundRect">
            <a:avLst/>
          </a:prstGeom>
          <a:solidFill>
            <a:srgbClr val="16253A"/>
          </a:solidFill>
          <a:ln w="19050">
            <a:solidFill>
              <a:srgbClr val="D3A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>
                <a:solidFill>
                  <a:srgbClr val="D3AA4C"/>
                </a:solidFill>
                <a:latin typeface="Aptos"/>
              </a:rPr>
              <a:t>ИТОГ  </a:t>
            </a:r>
            <a:r>
              <a:rPr sz="1400">
                <a:solidFill>
                  <a:srgbClr val="F5F6F8"/>
                </a:solidFill>
                <a:latin typeface="Aptos"/>
              </a:rPr>
              <a:t>крах последнего наступления Германии на востоке. День славы — 23 августа.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EB8C5"/>
                </a:solidFill>
                <a:latin typeface="Aptos"/>
              </a:defRPr>
            </a:pPr>
            <a:r>
              <a:t>Основы российской государственности •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3AA4C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AA4C"/>
                </a:solidFill>
                <a:latin typeface="Aptos"/>
              </a:defRPr>
            </a:pPr>
            <a:r>
              <a:t>1945 • БЕРЛИН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6F8"/>
                </a:solidFill>
                <a:latin typeface="Aptos"/>
              </a:defRPr>
            </a:pPr>
            <a:r>
              <a:t>Взятие Берлина. Победа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57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3AA4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881360" cy="27432"/>
          </a:xfrm>
          <a:prstGeom prst="round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7223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Прорыв: </a:t>
            </a:r>
            <a:r>
              <a:rPr sz="1500">
                <a:solidFill>
                  <a:srgbClr val="F5F6F8"/>
                </a:solidFill>
                <a:latin typeface="Aptos"/>
              </a:rPr>
              <a:t>форсирование Одера и Нейсе, бои за Зееловские высоты.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Штурм: </a:t>
            </a:r>
            <a:r>
              <a:rPr sz="1500">
                <a:solidFill>
                  <a:srgbClr val="F5F6F8"/>
                </a:solidFill>
                <a:latin typeface="Aptos"/>
              </a:rPr>
              <a:t>окружение Берлина, уличные бои.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30 апреля: </a:t>
            </a:r>
            <a:r>
              <a:rPr sz="1500">
                <a:solidFill>
                  <a:srgbClr val="F5F6F8"/>
                </a:solidFill>
                <a:latin typeface="Aptos"/>
              </a:rPr>
              <a:t>Знамя Победы над Рейхстагом (Егоров и Кантария).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D3AA4C"/>
                </a:solidFill>
                <a:latin typeface="Aptos"/>
              </a:rPr>
              <a:t>Ночь на 9 мая: </a:t>
            </a:r>
            <a:r>
              <a:rPr sz="1500">
                <a:solidFill>
                  <a:srgbClr val="F5F6F8"/>
                </a:solidFill>
                <a:latin typeface="Aptos"/>
              </a:rPr>
              <a:t>подписан Акт о безоговорочной капитуляции Германии.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920240"/>
            <a:ext cx="3291840" cy="3977639"/>
          </a:xfrm>
          <a:prstGeom prst="roundRect">
            <a:avLst/>
          </a:prstGeom>
          <a:solidFill>
            <a:srgbClr val="16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/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ДАТЫ
</a:t>
            </a:r>
            <a:r>
              <a:rPr sz="1400">
                <a:solidFill>
                  <a:srgbClr val="F5F6F8"/>
                </a:solidFill>
                <a:latin typeface="Aptos"/>
              </a:rPr>
              <a:t>16 апреля — 9 мая 1945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ФРОНТЫ
</a:t>
            </a:r>
            <a:r>
              <a:rPr sz="1400">
                <a:solidFill>
                  <a:srgbClr val="F5F6F8"/>
                </a:solidFill>
                <a:latin typeface="Aptos"/>
              </a:rPr>
              <a:t>Жуков, Конев, Рокоссовский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СИМВОЛ
</a:t>
            </a:r>
            <a:r>
              <a:rPr sz="1400">
                <a:solidFill>
                  <a:srgbClr val="F5F6F8"/>
                </a:solidFill>
                <a:latin typeface="Aptos"/>
              </a:rPr>
              <a:t>Знамя над Рейхстагом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D3AA4C"/>
                </a:solidFill>
                <a:latin typeface="Aptos"/>
              </a:rPr>
              <a:t>ЦЕНА
</a:t>
            </a:r>
            <a:r>
              <a:rPr sz="1400">
                <a:solidFill>
                  <a:srgbClr val="F5F6F8"/>
                </a:solidFill>
                <a:latin typeface="Aptos"/>
              </a:rPr>
              <a:t>≈27 млн жизней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120640"/>
            <a:ext cx="7223760" cy="914400"/>
          </a:xfrm>
          <a:prstGeom prst="roundRect">
            <a:avLst/>
          </a:prstGeom>
          <a:solidFill>
            <a:srgbClr val="16253A"/>
          </a:solidFill>
          <a:ln w="19050">
            <a:solidFill>
              <a:srgbClr val="D3A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>
                <a:solidFill>
                  <a:srgbClr val="D3AA4C"/>
                </a:solidFill>
                <a:latin typeface="Aptos"/>
              </a:rPr>
              <a:t>ИТОГ  </a:t>
            </a:r>
            <a:r>
              <a:rPr sz="1400">
                <a:solidFill>
                  <a:srgbClr val="F5F6F8"/>
                </a:solidFill>
                <a:latin typeface="Aptos"/>
              </a:rPr>
              <a:t>сокрушение нацизма. 9 Мая — главный праздник воинской славы.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EB8C5"/>
                </a:solidFill>
                <a:latin typeface="Aptos"/>
              </a:defRPr>
            </a:pPr>
            <a:r>
              <a:t>Основы российской государственности •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3AA4C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AA4C"/>
                </a:solidFill>
                <a:latin typeface="Aptos"/>
              </a:defRPr>
            </a:pPr>
            <a:r>
              <a:t>ПОСЛЕ 1991 ГОДА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6F8"/>
                </a:solidFill>
                <a:latin typeface="Aptos"/>
              </a:defRPr>
            </a:pPr>
            <a:r>
              <a:t>Современный период — честная оговорка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57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3AA4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881360" cy="27432"/>
          </a:xfrm>
          <a:prstGeom prst="round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D3AA4C"/>
                </a:solidFill>
                <a:latin typeface="Aptos"/>
              </a:rPr>
              <a:t>Факт: </a:t>
            </a:r>
            <a:r>
              <a:rPr sz="1700">
                <a:solidFill>
                  <a:srgbClr val="F5F6F8"/>
                </a:solidFill>
                <a:latin typeface="Aptos"/>
              </a:rPr>
              <a:t>после распада СССР Россия участвовала в военных конфликтах и операциях: Чечня (1990–2000-е), 2008 год, Сирия (с 2015).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D3AA4C"/>
                </a:solidFill>
                <a:latin typeface="Aptos"/>
              </a:rPr>
              <a:t>Проблема: </a:t>
            </a:r>
            <a:r>
              <a:rPr sz="1700">
                <a:solidFill>
                  <a:srgbClr val="F5F6F8"/>
                </a:solidFill>
                <a:latin typeface="Aptos"/>
              </a:rPr>
              <a:t>официального перечня «ключевых побед» по этому периоду — как в законе о днях славы — нет.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D3AA4C"/>
                </a:solidFill>
                <a:latin typeface="Aptos"/>
              </a:rPr>
              <a:t>Решение: </a:t>
            </a:r>
            <a:r>
              <a:rPr sz="1700">
                <a:solidFill>
                  <a:srgbClr val="F5F6F8"/>
                </a:solidFill>
                <a:latin typeface="Aptos"/>
              </a:rPr>
              <a:t>в доклад взяты исторические победы с научным консенсусом; современность не смешиваем с историческим списком.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EB8C5"/>
                </a:solidFill>
                <a:latin typeface="Aptos"/>
              </a:defRPr>
            </a:pPr>
            <a:r>
              <a:t>Основы российской государственности •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3AA4C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AA4C"/>
                </a:solidFill>
                <a:latin typeface="Aptos"/>
              </a:defRPr>
            </a:pPr>
            <a:r>
              <a:t>ВЫВОД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6F8"/>
                </a:solidFill>
                <a:latin typeface="Aptos"/>
              </a:defRPr>
            </a:pPr>
            <a:r>
              <a:t>Почему эти победы важны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57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3AA4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881360" cy="27432"/>
          </a:xfrm>
          <a:prstGeom prst="round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5F6F8"/>
                </a:solidFill>
                <a:latin typeface="Aptos"/>
              </a:defRPr>
            </a:pPr>
            <a:r>
              <a:t>Они меняли не исход боя, а положение государства.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3474720" cy="1737360"/>
          </a:xfrm>
          <a:prstGeom prst="roundRect">
            <a:avLst/>
          </a:prstGeom>
          <a:solidFill>
            <a:srgbClr val="16253A"/>
          </a:solidFill>
          <a:ln w="19050">
            <a:solidFill>
              <a:srgbClr val="D3A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3AA4C"/>
                </a:solidFill>
                <a:latin typeface="Aptos"/>
              </a:rPr>
              <a:t>ЗАЩИТА
</a:t>
            </a:r>
            <a:r>
              <a:rPr sz="1500">
                <a:solidFill>
                  <a:srgbClr val="F5F6F8"/>
                </a:solidFill>
                <a:latin typeface="Aptos"/>
              </a:rPr>
              <a:t>территории
и независимости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834640"/>
            <a:ext cx="3474720" cy="1737360"/>
          </a:xfrm>
          <a:prstGeom prst="roundRect">
            <a:avLst/>
          </a:prstGeom>
          <a:solidFill>
            <a:srgbClr val="16253A"/>
          </a:solidFill>
          <a:ln w="19050">
            <a:solidFill>
              <a:srgbClr val="D3A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3AA4C"/>
                </a:solidFill>
                <a:latin typeface="Aptos"/>
              </a:rPr>
              <a:t>ПЕРЕЛОМ
</a:t>
            </a:r>
            <a:r>
              <a:rPr sz="1500">
                <a:solidFill>
                  <a:srgbClr val="F5F6F8"/>
                </a:solidFill>
                <a:latin typeface="Aptos"/>
              </a:rPr>
              <a:t>хода крупных
войн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9" y="2834640"/>
            <a:ext cx="3474720" cy="1737360"/>
          </a:xfrm>
          <a:prstGeom prst="roundRect">
            <a:avLst/>
          </a:prstGeom>
          <a:solidFill>
            <a:srgbClr val="16253A"/>
          </a:solidFill>
          <a:ln w="19050">
            <a:solidFill>
              <a:srgbClr val="D3A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3AA4C"/>
                </a:solidFill>
                <a:latin typeface="Aptos"/>
              </a:rPr>
              <a:t>ГОСУДАРСТВЕННОСТЬ
</a:t>
            </a:r>
            <a:r>
              <a:rPr sz="1500">
                <a:solidFill>
                  <a:srgbClr val="F5F6F8"/>
                </a:solidFill>
                <a:latin typeface="Aptos"/>
              </a:rPr>
              <a:t>развитие
и консолидация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EB8C5"/>
                </a:solidFill>
                <a:latin typeface="Aptos"/>
              </a:defRPr>
            </a:pPr>
            <a:r>
              <a:t>Военная победа важна историческими последствиями, а не только выигранным боем.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EB8C5"/>
                </a:solidFill>
                <a:latin typeface="Aptos"/>
              </a:defRPr>
            </a:pPr>
            <a:r>
              <a:t>Основы российской государственности •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3AA4C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AA4C"/>
                </a:solidFill>
                <a:latin typeface="Aptos"/>
              </a:defRPr>
            </a:pPr>
            <a:r>
              <a:t>ИСТОЧНИКИ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F6F8"/>
                </a:solidFill>
                <a:latin typeface="Aptos"/>
              </a:defRPr>
            </a:pPr>
            <a:r>
              <a:t>Основные материалы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57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3AA4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881360" cy="27432"/>
          </a:xfrm>
          <a:prstGeom prst="round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02920" cy="502920"/>
          </a:xfrm>
          <a:prstGeom prst="round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1600" b="1">
                <a:solidFill>
                  <a:srgbClr val="0C162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6F8"/>
                </a:solidFill>
                <a:latin typeface="Aptos"/>
              </a:defRPr>
            </a:pPr>
            <a:r>
              <a:t>Федеральный закон № 32-ФЗ «О днях воинской славы и памятных датах России».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88920"/>
            <a:ext cx="502920" cy="502920"/>
          </a:xfrm>
          <a:prstGeom prst="round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1600" b="1">
                <a:solidFill>
                  <a:srgbClr val="0C162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889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6F8"/>
                </a:solidFill>
                <a:latin typeface="Aptos"/>
              </a:defRPr>
            </a:pPr>
            <a:r>
              <a:t>Большая российская энциклопедия — статьи по основным сражениям.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502920" cy="502920"/>
          </a:xfrm>
          <a:prstGeom prst="round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1600" b="1">
                <a:solidFill>
                  <a:srgbClr val="0C162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56616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6F8"/>
                </a:solidFill>
                <a:latin typeface="Aptos"/>
              </a:defRPr>
            </a:pPr>
            <a:r>
              <a:t>Президентская библиотека им. Б. Н. Ельцина.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43400"/>
            <a:ext cx="502920" cy="502920"/>
          </a:xfrm>
          <a:prstGeom prst="round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1600" b="1">
                <a:solidFill>
                  <a:srgbClr val="0C162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3434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6F8"/>
                </a:solidFill>
                <a:latin typeface="Aptos"/>
              </a:defRPr>
            </a:pPr>
            <a:r>
              <a:t>Официальные исторические и архивные материалы.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035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3AA4C"/>
                </a:solidFill>
                <a:latin typeface="Aptos"/>
              </a:defRPr>
            </a:pPr>
            <a:r>
              <a:t>Спасибо за внимание!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EB8C5"/>
                </a:solidFill>
                <a:latin typeface="Aptos"/>
              </a:defRPr>
            </a:pPr>
            <a:r>
              <a:t>Основы российской государственности •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3AA4C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