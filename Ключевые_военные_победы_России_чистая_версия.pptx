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3AA4C"/>
          </a:solidFill>
          <a:ln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D3AA4C"/>
                </a:solidFill>
                <a:latin typeface="Aptos"/>
              </a:rPr>
              <a:t>ОСНОВЫ РОССИЙСКОЙ ГОСУДАРСТВЕННОСТИ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64008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3400" b="1">
                <a:solidFill>
                  <a:srgbClr val="F5F6F8"/>
                </a:solidFill>
                <a:latin typeface="Aptos"/>
              </a:rPr>
              <a:t>Ключевые военные
победы в истории России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61488"/>
            <a:ext cx="6492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700" b="0">
                <a:solidFill>
                  <a:srgbClr val="AEB8C5"/>
                </a:solidFill>
                <a:latin typeface="Aptos"/>
              </a:rPr>
              <a:t>От русских княжеств до победы СССР
в Великой Отечественной войне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143000"/>
            <a:ext cx="3977639" cy="3337560"/>
          </a:xfrm>
          <a:prstGeom prst="roundRect">
            <a:avLst/>
          </a:prstGeom>
          <a:solidFill>
            <a:srgbClr val="16253A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17320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ВЫПОЛНИЛИ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46120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500" b="0">
                <a:solidFill>
                  <a:srgbClr val="F5F6F8"/>
                </a:solidFill>
                <a:latin typeface="Aptos"/>
              </a:rPr>
              <a:t>Антонов Савелий
Романов Даниил
Данилов Матвей
Ващенко Роман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52044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AEB8C5"/>
                </a:solidFill>
                <a:latin typeface="Aptos"/>
              </a:rPr>
              <a:t>Группа: ПИ-262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F5F6F8"/>
                </a:solidFill>
                <a:latin typeface="Aptos"/>
              </a:rPr>
              <a:t>Доклад • 5–7 минут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О каких победах идёт речь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5156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000" b="1">
                <a:solidFill>
                  <a:srgbClr val="F5F6F8"/>
                </a:solidFill>
                <a:latin typeface="Aptos"/>
              </a:rPr>
              <a:t>Мы рассматриваем не только современную РФ, а военные победы разных периодов российской истории.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D3AA4C"/>
                </a:solidFill>
                <a:latin typeface="Aptos"/>
              </a:rPr>
              <a:t>1242–1380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200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900" b="1">
                <a:solidFill>
                  <a:srgbClr val="F5F6F8"/>
                </a:solidFill>
                <a:latin typeface="Aptos"/>
              </a:rPr>
              <a:t>Русские княжества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5146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D3AA4C"/>
                </a:solidFill>
                <a:latin typeface="Aptos"/>
              </a:rPr>
              <a:t>1612–1812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880360"/>
            <a:ext cx="3200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900" b="1">
                <a:solidFill>
                  <a:srgbClr val="F5F6F8"/>
                </a:solidFill>
                <a:latin typeface="Aptos"/>
              </a:rPr>
              <a:t>Русское государство
и Российская империя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5146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D3AA4C"/>
                </a:solidFill>
                <a:latin typeface="Aptos"/>
              </a:rPr>
              <a:t>1942–1945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880360"/>
            <a:ext cx="3200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900" b="1">
                <a:solidFill>
                  <a:srgbClr val="F5F6F8"/>
                </a:solidFill>
                <a:latin typeface="Aptos"/>
              </a:rPr>
              <a:t>СССР
Великая Отечественная война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51960"/>
            <a:ext cx="10424160" cy="54864"/>
          </a:xfrm>
          <a:prstGeom prst="rect">
            <a:avLst/>
          </a:prstGeom>
          <a:solidFill>
            <a:srgbClr val="D3AA4C"/>
          </a:solidFill>
          <a:ln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4241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600" b="1">
                <a:solidFill>
                  <a:srgbClr val="AEB8C5"/>
                </a:solidFill>
                <a:latin typeface="Aptos"/>
              </a:rPr>
              <a:t>Главный критерий — не просто выигранный бой, а его влияние на дальнейший ход войны или развитие государства.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1242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Ледовое побоище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4572000" cy="4343400"/>
          </a:xfrm>
          <a:prstGeom prst="roundRect">
            <a:avLst/>
          </a:prstGeom>
          <a:solidFill>
            <a:srgbClr val="111D2F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114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400" b="1">
                <a:solidFill>
                  <a:srgbClr val="D3AA4C"/>
                </a:solidFill>
                <a:latin typeface="Aptos"/>
              </a:rPr>
              <a:t>1242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7" y="2331720"/>
            <a:ext cx="3931920" cy="22860"/>
          </a:xfrm>
          <a:prstGeom prst="rect">
            <a:avLst/>
          </a:prstGeom>
          <a:solidFill>
            <a:srgbClr val="374B65"/>
          </a:solidFill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8407" y="2770632"/>
            <a:ext cx="3931920" cy="22860"/>
          </a:xfrm>
          <a:prstGeom prst="rect">
            <a:avLst/>
          </a:prstGeom>
          <a:solidFill>
            <a:srgbClr val="374B65"/>
          </a:solidFill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8407" y="3209544"/>
            <a:ext cx="3931920" cy="22860"/>
          </a:xfrm>
          <a:prstGeom prst="rect">
            <a:avLst/>
          </a:prstGeom>
          <a:solidFill>
            <a:srgbClr val="374B65"/>
          </a:solidFill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8407" y="3648456"/>
            <a:ext cx="3931920" cy="22860"/>
          </a:xfrm>
          <a:prstGeom prst="rect">
            <a:avLst/>
          </a:prstGeom>
          <a:solidFill>
            <a:srgbClr val="374B65"/>
          </a:solidFill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7" y="4087368"/>
            <a:ext cx="3931920" cy="22860"/>
          </a:xfrm>
          <a:prstGeom prst="rect">
            <a:avLst/>
          </a:prstGeom>
          <a:solidFill>
            <a:srgbClr val="374B65"/>
          </a:solidFill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7432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200" b="1">
                <a:solidFill>
                  <a:srgbClr val="D3AA4C"/>
                </a:solidFill>
                <a:latin typeface="Aptos"/>
              </a:rPr>
              <a:t>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7" y="27432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200" b="1">
                <a:solidFill>
                  <a:srgbClr val="D3AA4C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4290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200" b="1">
                <a:solidFill>
                  <a:srgbClr val="D3AA4C"/>
                </a:solidFill>
                <a:latin typeface="Aptos"/>
              </a:rPr>
              <a:t>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7" y="34290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200" b="1">
                <a:solidFill>
                  <a:srgbClr val="D3AA4C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160520"/>
            <a:ext cx="3108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AEB8C5"/>
                </a:solidFill>
                <a:latin typeface="Aptos"/>
              </a:rPr>
              <a:t>ЧУДСКОЕ ОЗЕРО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572768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D3AA4C"/>
                </a:solidFill>
                <a:latin typeface="Aptos"/>
              </a:rPr>
              <a:t>АЛЕКСАНДР НЕВСКИЙ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1965960"/>
            <a:ext cx="557784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900" b="1">
                <a:solidFill>
                  <a:srgbClr val="F5F6F8"/>
                </a:solidFill>
                <a:latin typeface="Aptos"/>
              </a:rPr>
              <a:t>Новгородские и владимирские силы против Ливонского ордена.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97180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ИТОГ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337560"/>
            <a:ext cx="55778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700" b="0">
                <a:solidFill>
                  <a:srgbClr val="F5F6F8"/>
                </a:solidFill>
                <a:latin typeface="Aptos"/>
              </a:rPr>
              <a:t>Поражение войска ордена и остановка его продвижения против Новгорода.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29768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ЗНАЧЕНИЕ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645152"/>
            <a:ext cx="5577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D3AA4C"/>
                </a:solidFill>
                <a:latin typeface="Aptos"/>
              </a:rPr>
              <a:t>Защита северо-западных русских земель.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1380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Куликовская битва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4572000" cy="4343400"/>
          </a:xfrm>
          <a:prstGeom prst="roundRect">
            <a:avLst/>
          </a:prstGeom>
          <a:solidFill>
            <a:srgbClr val="111D2F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114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400" b="1">
                <a:solidFill>
                  <a:srgbClr val="D3AA4C"/>
                </a:solidFill>
                <a:latin typeface="Aptos"/>
              </a:rPr>
              <a:t>1380</a:t>
            </a:r>
          </a:p>
        </p:txBody>
      </p:sp>
      <p:sp>
        <p:nvSpPr>
          <p:cNvPr id="7" name="Arc 6"/>
          <p:cNvSpPr/>
          <p:nvPr/>
        </p:nvSpPr>
        <p:spPr>
          <a:xfrm>
            <a:off x="1207007" y="2560320"/>
            <a:ext cx="914400" cy="1645920"/>
          </a:xfrm>
          <a:prstGeom prst="arc">
            <a:avLst/>
          </a:prstGeom>
          <a:noFill/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1847087" y="2560320"/>
            <a:ext cx="914400" cy="1645920"/>
          </a:xfrm>
          <a:prstGeom prst="arc">
            <a:avLst/>
          </a:prstGeom>
          <a:noFill/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2487168" y="2560320"/>
            <a:ext cx="914400" cy="1645920"/>
          </a:xfrm>
          <a:prstGeom prst="arc">
            <a:avLst/>
          </a:prstGeom>
          <a:noFill/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3127247" y="2560320"/>
            <a:ext cx="914400" cy="1645920"/>
          </a:xfrm>
          <a:prstGeom prst="arc">
            <a:avLst/>
          </a:prstGeom>
          <a:noFill/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3767327" y="2560320"/>
            <a:ext cx="914400" cy="1645920"/>
          </a:xfrm>
          <a:prstGeom prst="arc">
            <a:avLst/>
          </a:prstGeom>
          <a:noFill/>
          <a:ln>
            <a:solidFill>
              <a:srgbClr val="37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51460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D3AA4C"/>
                </a:solidFill>
                <a:latin typeface="Aptos"/>
              </a:rPr>
              <a:t>РУС.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2514600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5F6F8"/>
                </a:solidFill>
                <a:latin typeface="Aptos"/>
              </a:rPr>
              <a:t>МАМАЙ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20624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AEB8C5"/>
                </a:solidFill>
                <a:latin typeface="Aptos"/>
              </a:rPr>
              <a:t>КУЛИКОВО ПОЛЕ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572768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D3AA4C"/>
                </a:solidFill>
                <a:latin typeface="Aptos"/>
              </a:rPr>
              <a:t>ДМИТРИЙ ДОНСКОЙ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65960"/>
            <a:ext cx="557784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900" b="1">
                <a:solidFill>
                  <a:srgbClr val="F5F6F8"/>
                </a:solidFill>
                <a:latin typeface="Aptos"/>
              </a:rPr>
              <a:t>Объединённые силы русских княжеств против войска Мамая.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97180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ИТОГ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337560"/>
            <a:ext cx="55778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700" b="0">
                <a:solidFill>
                  <a:srgbClr val="F5F6F8"/>
                </a:solidFill>
                <a:latin typeface="Aptos"/>
              </a:rPr>
              <a:t>Победа русских войск на Куликовом поле.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29768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ЗНАЧЕНИЕ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4645152"/>
            <a:ext cx="5577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D3AA4C"/>
                </a:solidFill>
                <a:latin typeface="Aptos"/>
              </a:rPr>
              <a:t>Усиление роли Москвы и символ объединения русских земель.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1612 • 1709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Освобождение Москвы и Полтава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349240" cy="4389120"/>
          </a:xfrm>
          <a:prstGeom prst="roundRect">
            <a:avLst/>
          </a:prstGeom>
          <a:solidFill>
            <a:srgbClr val="16253A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D3AA4C"/>
                </a:solidFill>
                <a:latin typeface="Aptos"/>
              </a:rPr>
              <a:t>1612 • МИНИН И ПОЖАРСКИЙ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100" b="1">
                <a:solidFill>
                  <a:srgbClr val="F5F6F8"/>
                </a:solidFill>
                <a:latin typeface="Aptos"/>
              </a:rPr>
              <a:t>Освобождение Москвы
от польского гарнизона.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ЗНАЧЕНИЕ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01568"/>
            <a:ext cx="48463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700" b="0">
                <a:solidFill>
                  <a:srgbClr val="F5F6F8"/>
                </a:solidFill>
                <a:latin typeface="Aptos"/>
              </a:rPr>
              <a:t>Важный этап завершения Смуты и восстановления государственности.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49240" cy="4389120"/>
          </a:xfrm>
          <a:prstGeom prst="roundRect">
            <a:avLst/>
          </a:prstGeom>
          <a:solidFill>
            <a:srgbClr val="16253A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664208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D3AA4C"/>
                </a:solidFill>
                <a:latin typeface="Aptos"/>
              </a:rPr>
              <a:t>1709 • ПОЛТАВА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57400"/>
            <a:ext cx="48463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100" b="1">
                <a:solidFill>
                  <a:srgbClr val="F5F6F8"/>
                </a:solidFill>
                <a:latin typeface="Aptos"/>
              </a:rPr>
              <a:t>Пётр I разгромил
главные силы Швеции.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0632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ЗНАЧЕНИЕ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401568"/>
            <a:ext cx="48463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700" b="0">
                <a:solidFill>
                  <a:srgbClr val="F5F6F8"/>
                </a:solidFill>
                <a:latin typeface="Aptos"/>
              </a:rPr>
              <a:t>Перелом Северной войны и усиление положения России в Европе.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Два события — разные эпохи, но оба существенно повлияли на развитие государства.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1812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Отечественная война 1812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4572000" cy="4343400"/>
          </a:xfrm>
          <a:prstGeom prst="roundRect">
            <a:avLst/>
          </a:prstGeom>
          <a:solidFill>
            <a:srgbClr val="111D2F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114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400" b="1">
                <a:solidFill>
                  <a:srgbClr val="D3AA4C"/>
                </a:solidFill>
                <a:latin typeface="Aptos"/>
              </a:rPr>
              <a:t>1812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51460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D3AA4C"/>
                </a:solidFill>
                <a:latin typeface="Aptos"/>
              </a:rPr>
              <a:t>МОСКВА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3048" y="251460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F5F6F8"/>
                </a:solidFill>
                <a:latin typeface="Aptos"/>
              </a:rPr>
              <a:t>СМОЛЕНСК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246120"/>
            <a:ext cx="2743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800" b="1">
                <a:solidFill>
                  <a:srgbClr val="D3AA4C"/>
                </a:solidFill>
                <a:latin typeface="Aptos"/>
              </a:rPr>
              <a:t>← ← 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052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AEB8C5"/>
                </a:solidFill>
                <a:latin typeface="Aptos"/>
              </a:rPr>
              <a:t>ОТСТУПЛЕНИЕ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572768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D3AA4C"/>
                </a:solidFill>
                <a:latin typeface="Aptos"/>
              </a:rPr>
              <a:t>М. И. КУТУЗОВ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965960"/>
            <a:ext cx="55778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000" b="1">
                <a:solidFill>
                  <a:srgbClr val="F5F6F8"/>
                </a:solidFill>
                <a:latin typeface="Aptos"/>
              </a:rPr>
              <a:t>Российская армия против армии Наполеона.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301752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ГЛАВНОЕ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364992"/>
            <a:ext cx="55778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700" b="0">
                <a:solidFill>
                  <a:srgbClr val="F5F6F8"/>
                </a:solidFill>
                <a:latin typeface="Aptos"/>
              </a:rPr>
              <a:t>Наполеон не достиг целей похода, а французская армия отступила с огромными потерями.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452628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ВАЖНО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846320"/>
            <a:ext cx="5577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D3AA4C"/>
                </a:solidFill>
                <a:latin typeface="Aptos"/>
              </a:rPr>
              <a:t>Бородино — часть кампании, а не однозначная отдельная победа.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1942–1945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Сталинград, Курск и Берлин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4572000" cy="4343400"/>
          </a:xfrm>
          <a:prstGeom prst="roundRect">
            <a:avLst/>
          </a:prstGeom>
          <a:solidFill>
            <a:srgbClr val="111D2F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114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400" b="1">
                <a:solidFill>
                  <a:srgbClr val="D3AA4C"/>
                </a:solidFill>
                <a:latin typeface="Aptos"/>
              </a:rPr>
              <a:t>1942–45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46888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D3AA4C"/>
                </a:solidFill>
                <a:latin typeface="Aptos"/>
              </a:rPr>
              <a:t>СТАЛИНГРАД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246888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5F6F8"/>
                </a:solidFill>
                <a:latin typeface="Aptos"/>
              </a:rPr>
              <a:t>КУРСК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24612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500" b="1">
                <a:solidFill>
                  <a:srgbClr val="D3AA4C"/>
                </a:solidFill>
                <a:latin typeface="Aptos"/>
              </a:rPr>
              <a:t>→  →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88620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200" b="1">
                <a:solidFill>
                  <a:srgbClr val="F5F6F8"/>
                </a:solidFill>
                <a:latin typeface="Aptos"/>
              </a:rPr>
              <a:t>→  БЕРЛИН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48056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AEB8C5"/>
                </a:solidFill>
                <a:latin typeface="Aptos"/>
              </a:rPr>
              <a:t>1942 — 1945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536192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D3AA4C"/>
                </a:solidFill>
                <a:latin typeface="Aptos"/>
              </a:rPr>
              <a:t>ТРИ ЭТАПА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920240"/>
            <a:ext cx="55778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F5F6F8"/>
                </a:solidFill>
                <a:latin typeface="Aptos"/>
              </a:rPr>
              <a:t>Сталинград — коренной перелом.
Курск — срыв немецкого наступления.
Берлин — завершение войны в Европе.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52044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AEB8C5"/>
                </a:solidFill>
                <a:latin typeface="Aptos"/>
              </a:rPr>
              <a:t>ПОЧЕМУ ЭТО ВАЖНО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886200"/>
            <a:ext cx="55778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D3AA4C"/>
                </a:solidFill>
                <a:latin typeface="Aptos"/>
              </a:rPr>
              <a:t>Инициатива перешла к СССР, после чего Красная армия дошла до Берлина.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5074920"/>
            <a:ext cx="5577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AEB8C5"/>
                </a:solidFill>
                <a:latin typeface="Aptos"/>
              </a:rPr>
              <a:t>Победы СССР в Великой Отечественной войне.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ПОСЛЕ 1991 ГОДА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Современный период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F5F6F8"/>
                </a:solidFill>
                <a:latin typeface="Aptos"/>
              </a:rPr>
              <a:t>После распада СССР Россия также участвовала в военных конфликтах и операциях.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154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ЧЕЧЕНСКИЕ КАМПАНИИ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154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900" b="1">
                <a:solidFill>
                  <a:srgbClr val="F5F6F8"/>
                </a:solidFill>
                <a:latin typeface="Aptos"/>
              </a:rPr>
              <a:t>1990-е — 2000-е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331720"/>
            <a:ext cx="3154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2008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697480"/>
            <a:ext cx="3154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900" b="1">
                <a:solidFill>
                  <a:srgbClr val="F5F6F8"/>
                </a:solidFill>
                <a:latin typeface="Aptos"/>
              </a:rPr>
              <a:t>Война с Грузией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331720"/>
            <a:ext cx="3154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2015–2024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697480"/>
            <a:ext cx="3154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900" b="1">
                <a:solidFill>
                  <a:srgbClr val="F5F6F8"/>
                </a:solidFill>
                <a:latin typeface="Aptos"/>
              </a:rPr>
              <a:t>Операция в Сирии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69080"/>
            <a:ext cx="10149840" cy="45720"/>
          </a:xfrm>
          <a:prstGeom prst="rect">
            <a:avLst/>
          </a:prstGeom>
          <a:solidFill>
            <a:srgbClr val="D3AA4C"/>
          </a:solidFill>
          <a:ln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600" b="1">
                <a:solidFill>
                  <a:srgbClr val="AEB8C5"/>
                </a:solidFill>
                <a:latin typeface="Aptos"/>
              </a:rPr>
              <a:t>Эти события не смешиваем с историческим списком: для современной России нет аналогичного официального перечня «ключевых военных побед».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Почему эти победы важны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241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000" b="1">
                <a:solidFill>
                  <a:srgbClr val="F5F6F8"/>
                </a:solidFill>
                <a:latin typeface="Aptos"/>
              </a:rPr>
              <a:t>Они не просто завершали отдельные сражения — они меняли дальнейшее положение государства.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D3AA4C"/>
                </a:solidFill>
                <a:latin typeface="Aptos"/>
              </a:rPr>
              <a:t>ЗАЩИТА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9260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800" b="1">
                <a:solidFill>
                  <a:srgbClr val="F5F6F8"/>
                </a:solidFill>
                <a:latin typeface="Aptos"/>
              </a:rPr>
              <a:t>территории
и независимости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74320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D3AA4C"/>
                </a:solidFill>
                <a:latin typeface="Aptos"/>
              </a:rPr>
              <a:t>ПЕРЕЛОМ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154680"/>
            <a:ext cx="29260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800" b="1">
                <a:solidFill>
                  <a:srgbClr val="F5F6F8"/>
                </a:solidFill>
                <a:latin typeface="Aptos"/>
              </a:rPr>
              <a:t>хода крупных
войн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D3AA4C"/>
                </a:solidFill>
                <a:latin typeface="Aptos"/>
              </a:rPr>
              <a:t>ГОСУДАРСТВЕННОСТЬ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154680"/>
            <a:ext cx="29260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800" b="1">
                <a:solidFill>
                  <a:srgbClr val="F5F6F8"/>
                </a:solidFill>
                <a:latin typeface="Aptos"/>
              </a:rPr>
              <a:t>развития
и консолидации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92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AEB8C5"/>
                </a:solidFill>
                <a:latin typeface="Aptos"/>
              </a:rPr>
              <a:t>Военная победа важна не только как выигранный бой, но и как её исторические последствия.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D3AA4C"/>
                </a:solidFill>
                <a:latin typeface="Aptos"/>
              </a:rPr>
              <a:t>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F5F6F8"/>
                </a:solidFill>
                <a:latin typeface="Aptos"/>
              </a:rPr>
              <a:t>Основные материалы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AEB8C5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D3AA4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9875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F5F6F8"/>
                </a:solidFill>
                <a:latin typeface="Aptos"/>
              </a:rPr>
              <a:t>Федеральный закон № 32-ФЗ «О днях воинской славы и памятных датах России».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0008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D3AA4C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50008"/>
            <a:ext cx="9875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F5F6F8"/>
                </a:solidFill>
                <a:latin typeface="Aptos"/>
              </a:rPr>
              <a:t>Большая российская энциклопедия — статьи по основным сражениям.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91256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D3AA4C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91256"/>
            <a:ext cx="9875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F5F6F8"/>
                </a:solidFill>
                <a:latin typeface="Aptos"/>
              </a:rPr>
              <a:t>Президентская библиотека им. Б. Н. Ельцина.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32504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D3AA4C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32504"/>
            <a:ext cx="9875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F5F6F8"/>
                </a:solidFill>
                <a:latin typeface="Aptos"/>
              </a:rPr>
              <a:t>Официальные исторические и архивные материалы.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332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2000" b="1">
                <a:solidFill>
                  <a:srgbClr val="D3AA4C"/>
                </a:solidFill>
                <a:latin typeface="Aptos"/>
              </a:rPr>
              <a:t>Спасибо за внимание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AEB8C5"/>
                </a:solidFill>
                <a:latin typeface="Aptos"/>
              </a:rPr>
              <a:t>Основы российской государственности •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02920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AEB8C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