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Спикер — Романов. Начать: приветствие, представьте команду, одна фраза о теме, затем — слайд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IIBA — International Institute of Business Analysis: международная профессиональная организация (США, с 2003). Читается по буквам: «ай-и-би-а». Что делает: BABOK — свод знаний по профессии, The Business Analysis Standard (2023) — актуальный стандарт, сертификация (ECBA, CCBA, CBAP). Аналог PMI для менеджеров проектов.</a:t>
            </a:r>
          </a:p>
          <a:p>
            <a:r>
              <a:t>Оригинал определения аналитика (IIBA, BABOK Glossary): «A business analyst is any person who performs business analysis, no matter their job title or organizational role». По Core Standard аналитик: «understanding enterprise problems and goals, analyzing needs and solutions, devising strategies, driving change, and facilitating stakeholder collaboration».</a:t>
            </a:r>
          </a:p>
          <a:p>
            <a:r>
              <a:t>Оригинал определения практики (IIBA): «Business Analysis is the practice of enabling change in an organizational context, by defining needs and recommending solutions that deliver value to stakeholders».</a:t>
            </a:r>
          </a:p>
          <a:p>
            <a:r>
              <a:t>Если спросят «определение про практику, а не про человека»: у IIBA есть ОБА определения — и бизнес-анализа (практики), и бизнес-аналитика (человека). В слайд взято определение про человека — по теме задания; ширину показывает практика: к ней IIBA относит не только BA, но и системных аналитиков, product owner'ов, специалистов по требованиям.</a:t>
            </a:r>
          </a:p>
          <a:p>
            <a:r>
              <a:t>Курс аргументации: Т—Ж — процессы; KursHub — процессы + данные; IIBA — весь цикл. Плюс: IIBA — стандартодержатель, а не блог.</a:t>
            </a:r>
          </a:p>
          <a:p>
            <a:r>
              <a:t>Если спросят про KursHub: честно — карьерно-образовательный портал, источник слабее; брали как второй взгляд, и это подтверждает вывод: выбирать надо стандарт.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без обобщения: ✓ — пункт дословно в вакансии, △ — подразумевается связанным требованием. Раскрытие △-ячеек:</a:t>
            </a:r>
          </a:p>
          <a:p>
            <a:r>
              <a:t>— Т-Банк «моделирование и оптимизация процессов»: дословного глагола нет, но есть требование «Знаете нотации для описания бизнес-процессов — BPMN и UML» и в описании — «выстроить процессы, сформулировать этапы создания продукта».</a:t>
            </a:r>
          </a:p>
          <a:p>
            <a:r>
              <a:t>— МТС «работа с данными / SQL»: дословно «анализировать большие объемы информации, сравнивать данные и строить на них свои решения», «Excel на продвинутом уровне»; SQL в этой конкретной вакансии не упомянут.</a:t>
            </a:r>
          </a:p>
          <a:p>
            <a:r>
              <a:t>— Яндекс «документирование»: «формировать функциональные и технические требования», «структурировать и наполнять единую библиотеку бизнес-процессов» — ведение документации подразумевается, глагола «документировать» нет.</a:t>
            </a:r>
          </a:p>
          <a:p>
            <a:r>
              <a:t>Почему всё равно «общие задачи»: задание требует выбрать 6 ОБЩИХ задач, и по ним у каждого работодателя есть хотя бы прямое или связанное требование — пересечение по рынку сохранено полностью.</a:t>
            </a:r>
          </a:p>
          <a:p/>
          <a:p>
            <a:r>
              <a:t>Т-Банк (вакансия fcfd41af + карьерная страница команды): «Собирать, верифицировать, анализировать и описывать бизнес-требования заказчиков», «Вести документацию по проекту», «Знаете нотации для описания бизнес-процессов — BPMN и UML», «Умеете работать с SQL», «Взаимодействовать с архитекторами и системными аналитиками».</a:t>
            </a:r>
          </a:p>
          <a:p/>
          <a:p>
            <a:r>
              <a:t>Яндекс: вакансия 6974 — «взаимодействовать с внутренними заказчиками», «собираТЬ требования и пожелания к BI-инструментам», «отлично знаете любой из диалектов SQL», DataLens. Вакансия 20167 — раздел «Анализ и оптимизация бизнес-процессов», «описывали (моделировали) бизнес-процессы», «BPMN (или IDEF, EPC, Flowchart)». Обе «в архиве», но страницы открываются.</a:t>
            </a:r>
          </a:p>
          <a:p/>
          <a:p>
            <a:r>
              <a:t>МТС (вакансия 694474669050301686, ПАО МТС): «Формировать бизнес-требования», «Оптимизировать действующие бизнес-процессы, моделировать новые», «переговоры с заказчиком», «анализировать большие объемы информации, сравнивать данные», «Excel на продвинутом уровне», «UML, BPMN», «Составлять ТЗ», «Jira, Confluence». Пометка «в архиве» есть, страница открывается — отсюда формулировка «вакансии/карьерные материалы».</a:t>
            </a:r>
          </a:p>
          <a:p/>
          <a:p>
            <a:r>
              <a:t>Альфа-Банк (36525): «Сбор и анализ бизнес-требований от заинтересованных сторон», «Моделирование и оптимизация бизнес-процессов», «Взаимодействие с командами разработки и тестирования», «SQL, Excel, BI-инструменты», «BPMN, UML», «Разработка и документирование спецификаций и требований».</a:t>
            </a:r>
          </a:p>
          <a:p/>
          <a:p>
            <a:r>
              <a:t>Мини-глоссарий: IIBA (ай-и-би-а) — международная организация-стандарт; BABOK (би-эй-би-оу-кей) — свод знаний; stakeholder (стейкхолдер) — заинтересованное лицо; requirement (рикуайрмент) — требование; BPMN (би-пи-эм-эн) — схемы процессов; UML (ю-эм-эль) — модели систем; SQL (эс-кью-эл) — запросы к БД; BI (би-ай) — Power BI, Tableau (табло), DataLens (даталенс); Agile (аджайл)/Scrum (скрам); API (эй-пи-ай); Jira (джира) — задачи; Confluence (конфлуэнс) — документация.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B4C"/>
              </a:gs>
              <a:gs pos="100000">
                <a:srgbClr val="3E56E8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2468880"/>
            <a:ext cx="5120640" cy="5120640"/>
          </a:xfrm>
          <a:prstGeom prst="ellipse">
            <a:avLst/>
          </a:prstGeom>
          <a:solidFill>
            <a:srgbClr val="1D2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846320"/>
            <a:ext cx="4754880" cy="4754880"/>
          </a:xfrm>
          <a:prstGeom prst="ellipse">
            <a:avLst/>
          </a:prstGeom>
          <a:solidFill>
            <a:srgbClr val="172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828800"/>
            <a:ext cx="1737360" cy="1737360"/>
          </a:xfrm>
          <a:prstGeom prst="ellipse">
            <a:avLst/>
          </a:prstGeom>
          <a:noFill/>
          <a:ln w="19050">
            <a:solidFill>
              <a:srgbClr val="2C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84280" y="4160520"/>
            <a:ext cx="384048" cy="384048"/>
          </a:xfrm>
          <a:prstGeom prst="ellipse">
            <a:avLst/>
          </a:prstGeom>
          <a:solidFill>
            <a:srgbClr val="22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25880"/>
            <a:ext cx="10607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Бизнес-аналитик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450592"/>
            <a:ext cx="1554480" cy="50292"/>
          </a:xfrm>
          <a:prstGeom prst="rect">
            <a:avLst/>
          </a:prstGeom>
          <a:gradFill rotWithShape="1">
            <a:gsLst>
              <a:gs pos="0">
                <a:srgbClr val="22C9E8"/>
              </a:gs>
              <a:gs pos="100000">
                <a:srgbClr val="7C5C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AAB6E8"/>
                </a:solidFill>
                <a:latin typeface="Segoe UI"/>
                <a:cs typeface="Segoe UI"/>
                <a:ea typeface="Segoe UI"/>
              </a:rPr>
              <a:t>Кто это, что делает и что от профессии требуют работодатели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0543032" cy="2011680"/>
          </a:xfrm>
          <a:prstGeom prst="roundRect">
            <a:avLst>
              <a:gd name="adj" fmla="val 5500"/>
            </a:avLst>
          </a:prstGeom>
          <a:solidFill>
            <a:srgbClr val="1A2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25880" y="4315968"/>
            <a:ext cx="196596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5CFF"/>
              </a:gs>
              <a:gs pos="100000">
                <a:srgbClr val="22C9E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Команда №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974336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A0E0"/>
                </a:solidFill>
                <a:latin typeface="Segoe UI"/>
                <a:cs typeface="Segoe UI"/>
                <a:ea typeface="Segoe UI"/>
              </a:rPr>
              <a:t>Участники:   </a:t>
            </a:r>
            <a:r>
              <a:rPr sz="1400" b="0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Роот, Байзакова, Романов, Чумаков, Иващенко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39496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A0E0"/>
                </a:solidFill>
                <a:latin typeface="Segoe UI"/>
                <a:cs typeface="Segoe UI"/>
                <a:ea typeface="Segoe UI"/>
              </a:rPr>
              <a:t>Спикер:   </a:t>
            </a:r>
            <a:r>
              <a:rPr sz="1400" b="1" i="0">
                <a:solidFill>
                  <a:srgbClr val="22C9E8"/>
                </a:solidFill>
                <a:latin typeface="Segoe UI"/>
                <a:cs typeface="Segoe UI"/>
                <a:ea typeface="Segoe UI"/>
              </a:rPr>
              <a:t>Романов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Понятие «бизнес-аналитик»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36576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 i="0">
                <a:solidFill>
                  <a:srgbClr val="E3E8F9"/>
                </a:solidFill>
                <a:latin typeface="Segoe UI"/>
                <a:cs typeface="Segoe UI"/>
                <a:ea typeface="Segoe U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645920"/>
            <a:ext cx="10600639" cy="18288"/>
          </a:xfrm>
          <a:prstGeom prst="rect">
            <a:avLst/>
          </a:prstGeom>
          <a:solidFill>
            <a:srgbClr val="E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529584" cy="2697480"/>
          </a:xfrm>
          <a:prstGeom prst="roundRect">
            <a:avLst>
              <a:gd name="adj" fmla="val 4500"/>
            </a:avLst>
          </a:prstGeom>
          <a:solidFill>
            <a:srgbClr val="F1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148839"/>
            <a:ext cx="155448" cy="155448"/>
          </a:xfrm>
          <a:prstGeom prst="ellipse">
            <a:avLst/>
          </a:prstGeom>
          <a:solidFill>
            <a:srgbClr val="3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075688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Т—Ж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51176"/>
            <a:ext cx="29809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A4258"/>
                </a:solidFill>
                <a:latin typeface="Segoe UI"/>
                <a:cs typeface="Segoe UI"/>
                <a:ea typeface="Segoe UI"/>
              </a:rPr>
              <a:t>Специалист, который анализирует и оптимизирует бизнес-процессы организации и разрабатывает решения, делающие работу компании эффективнее.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33087"/>
            <a:ext cx="2980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Источник: </a:t>
            </a:r>
            <a:r>
              <a:rPr sz="95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Т—Ж, «Кто такой бизнес-аналитик», 24.09.2025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874519"/>
            <a:ext cx="3529584" cy="2697480"/>
          </a:xfrm>
          <a:prstGeom prst="roundRect">
            <a:avLst>
              <a:gd name="adj" fmla="val 4500"/>
            </a:avLst>
          </a:prstGeom>
          <a:solidFill>
            <a:srgbClr val="F1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599" y="2148839"/>
            <a:ext cx="155448" cy="155448"/>
          </a:xfrm>
          <a:prstGeom prst="ellipse">
            <a:avLst/>
          </a:prstGeom>
          <a:solidFill>
            <a:srgbClr val="3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2075688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KursHub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2551176"/>
            <a:ext cx="29809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A4258"/>
                </a:solidFill>
                <a:latin typeface="Segoe UI"/>
                <a:cs typeface="Segoe UI"/>
                <a:ea typeface="Segoe UI"/>
              </a:rPr>
              <a:t>Специалист, который анализирует рабочие процессы и данные компании, выявляет потребности и проблемы и предлагает решения для повышения эффективности бизнеса.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4133087"/>
            <a:ext cx="2980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Источник: </a:t>
            </a:r>
            <a:r>
              <a:rPr sz="95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KursHub, статья от 14.10.2024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874519"/>
            <a:ext cx="3529584" cy="26974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2A3BBF"/>
              </a:gs>
              <a:gs pos="100000">
                <a:srgbClr val="3E56E8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2148839"/>
            <a:ext cx="155448" cy="155448"/>
          </a:xfrm>
          <a:prstGeom prst="ellipse">
            <a:avLst/>
          </a:prstGeom>
          <a:solidFill>
            <a:srgbClr val="22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2075688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IIBA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21824" y="2093976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22C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 i="0">
                <a:solidFill>
                  <a:srgbClr val="0F1B4C"/>
                </a:solidFill>
                <a:latin typeface="Segoe UI"/>
                <a:cs typeface="Segoe UI"/>
                <a:ea typeface="Segoe UI"/>
              </a:rPr>
              <a:t>ВЫБОР КОМАНДЫ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551176"/>
            <a:ext cx="29809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Бизнес-аналитик — специалист, который выполняет задачи бизнес-анализа, независимо от должности и роли: определяет потребности заинтересованных сторон, анализирует информацию из разных источников и рекомендует решения, создающие ценность.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33087"/>
            <a:ext cx="298094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AB6E8"/>
                </a:solidFill>
                <a:latin typeface="Segoe UI"/>
                <a:cs typeface="Segoe UI"/>
                <a:ea typeface="Segoe UI"/>
              </a:rPr>
              <a:t>Источник: </a:t>
            </a:r>
            <a:r>
              <a:rPr sz="950" b="0" i="0">
                <a:solidFill>
                  <a:srgbClr val="AAB6E8"/>
                </a:solidFill>
                <a:latin typeface="Segoe UI"/>
                <a:cs typeface="Segoe UI"/>
                <a:ea typeface="Segoe UI"/>
              </a:rPr>
              <a:t>IIBA, BABOK Guide, глоссарий: business analyst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28032"/>
            <a:ext cx="10634472" cy="1298448"/>
          </a:xfrm>
          <a:prstGeom prst="roundRect">
            <a:avLst>
              <a:gd name="adj" fmla="val 6000"/>
            </a:avLst>
          </a:prstGeom>
          <a:solidFill>
            <a:srgbClr val="F1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28032"/>
            <a:ext cx="82296" cy="1298448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28032"/>
            <a:ext cx="14630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56E8"/>
                </a:solidFill>
                <a:latin typeface="Segoe UI"/>
                <a:cs typeface="Segoe UI"/>
                <a:ea typeface="Segoe UI"/>
              </a:rPr>
              <a:t>ВЫВОД</a:t>
            </a:r>
          </a:p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56E8"/>
                </a:solidFill>
                <a:latin typeface="Segoe UI"/>
                <a:cs typeface="Segoe UI"/>
                <a:ea typeface="Segoe UI"/>
              </a:rPr>
              <a:t>КОМАНДЫ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5029200"/>
            <a:ext cx="18288" cy="896112"/>
          </a:xfrm>
          <a:prstGeom prst="rect">
            <a:avLst/>
          </a:prstGeom>
          <a:solidFill>
            <a:srgbClr val="D5D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4974336"/>
            <a:ext cx="8183879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0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Наиболее полным является </a:t>
            </a:r>
            <a:r>
              <a:rPr sz="1350" b="1" i="0">
                <a:solidFill>
                  <a:srgbClr val="2A3BBF"/>
                </a:solidFill>
                <a:latin typeface="Segoe UI"/>
                <a:cs typeface="Segoe UI"/>
                <a:ea typeface="Segoe UI"/>
              </a:rPr>
              <a:t>определение IIBA</a:t>
            </a:r>
            <a:r>
              <a:rPr sz="1350" b="0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Оно шире, чем два других: не только процессы и данные, но и потребности, поиск решений, проведение изменений и создание ценности для стейкхолдеров.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1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Т—Ж: </a:t>
            </a:r>
            <a:r>
              <a:rPr sz="110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бизнес-процессы</a:t>
            </a:r>
            <a:r>
              <a:rPr sz="1100" b="1" i="0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   →   </a:t>
            </a:r>
            <a:r>
              <a:rPr sz="1100" b="1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KursHub: </a:t>
            </a:r>
            <a:r>
              <a:rPr sz="110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процессы + данные</a:t>
            </a:r>
            <a:r>
              <a:rPr sz="1100" b="1" i="0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   →   </a:t>
            </a:r>
            <a:r>
              <a:rPr sz="1100" b="1" i="0">
                <a:solidFill>
                  <a:srgbClr val="2A3BBF"/>
                </a:solidFill>
                <a:latin typeface="Segoe UI"/>
                <a:cs typeface="Segoe UI"/>
                <a:ea typeface="Segoe UI"/>
              </a:rPr>
              <a:t>IIBA: </a:t>
            </a:r>
            <a:r>
              <a:rPr sz="1100" b="1" i="0">
                <a:solidFill>
                  <a:srgbClr val="2A3BBF"/>
                </a:solidFill>
                <a:latin typeface="Segoe UI"/>
                <a:cs typeface="Segoe UI"/>
                <a:ea typeface="Segoe UI"/>
              </a:rPr>
              <a:t>потребности + решения + изменения + ценность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Источники:  t-j.ru/business-analyst/   ·   kurshub.uz/journal/professions/biznes-analitik/   ·   iiba.org/knowledgehub/the-business-analysis-standard/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528816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Бизнес-аналитик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5105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C2C9E4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Задачи и требования к бизнес-аналитику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2855" y="36576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 i="0">
                <a:solidFill>
                  <a:srgbClr val="E3E8F9"/>
                </a:solidFill>
                <a:latin typeface="Segoe UI"/>
                <a:cs typeface="Segoe UI"/>
                <a:ea typeface="Segoe U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645920"/>
            <a:ext cx="10600639" cy="18288"/>
          </a:xfrm>
          <a:prstGeom prst="rect">
            <a:avLst/>
          </a:prstGeom>
          <a:solidFill>
            <a:srgbClr val="E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92224"/>
          <a:ext cx="10637215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6415"/>
                <a:gridCol w="1600200"/>
                <a:gridCol w="1600200"/>
                <a:gridCol w="1600200"/>
                <a:gridCol w="1600200"/>
              </a:tblGrid>
              <a:tr h="475488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  <a:ea typeface="Segoe UI"/>
                        </a:rPr>
                        <a:t>Задача / требование</a:t>
                      </a:r>
                    </a:p>
                  </a:txBody>
                  <a:tcPr anchor="ctr" marL="201168">
                    <a:gradFill rotWithShape="1">
                      <a:gsLst>
                        <a:gs pos="0">
                          <a:srgbClr val="2A3BBF"/>
                        </a:gs>
                        <a:gs pos="100000">
                          <a:srgbClr val="3E56E8"/>
                        </a:gs>
                      </a:gsLst>
                      <a:lin scaled="0"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  <a:ea typeface="Segoe UI"/>
                        </a:rPr>
                        <a:t>Т-Банк</a:t>
                      </a:r>
                    </a:p>
                  </a:txBody>
                  <a:tcPr anchor="ctr" marL="73152" marR="36576">
                    <a:gradFill rotWithShape="1">
                      <a:gsLst>
                        <a:gs pos="0">
                          <a:srgbClr val="2A3BBF"/>
                        </a:gs>
                        <a:gs pos="100000">
                          <a:srgbClr val="3E56E8"/>
                        </a:gs>
                      </a:gsLst>
                      <a:lin scaled="0"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  <a:ea typeface="Segoe UI"/>
                        </a:rPr>
                        <a:t>Яндекс</a:t>
                      </a:r>
                    </a:p>
                  </a:txBody>
                  <a:tcPr anchor="ctr" marL="73152" marR="36576">
                    <a:gradFill rotWithShape="1">
                      <a:gsLst>
                        <a:gs pos="0">
                          <a:srgbClr val="2A3BBF"/>
                        </a:gs>
                        <a:gs pos="100000">
                          <a:srgbClr val="3E56E8"/>
                        </a:gs>
                      </a:gsLst>
                      <a:lin scaled="0"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  <a:ea typeface="Segoe UI"/>
                        </a:rPr>
                        <a:t>МТС</a:t>
                      </a:r>
                    </a:p>
                  </a:txBody>
                  <a:tcPr anchor="ctr" marL="73152" marR="36576">
                    <a:gradFill rotWithShape="1">
                      <a:gsLst>
                        <a:gs pos="0">
                          <a:srgbClr val="2A3BBF"/>
                        </a:gs>
                        <a:gs pos="100000">
                          <a:srgbClr val="3E56E8"/>
                        </a:gs>
                      </a:gsLst>
                      <a:lin scaled="0" ang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Segoe UI"/>
                          <a:cs typeface="Segoe UI"/>
                          <a:ea typeface="Segoe UI"/>
                        </a:rPr>
                        <a:t>Альфа-Банк</a:t>
                      </a:r>
                    </a:p>
                  </a:txBody>
                  <a:tcPr anchor="ctr" marL="73152" marR="36576">
                    <a:gradFill rotWithShape="1">
                      <a:gsLst>
                        <a:gs pos="0">
                          <a:srgbClr val="2A3BBF"/>
                        </a:gs>
                        <a:gs pos="100000">
                          <a:srgbClr val="3E56E8"/>
                        </a:gs>
                      </a:gsLst>
                      <a:lin scaled="0" ang="0"/>
                    </a:gra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Сбор и анализ требований</a:t>
                      </a:r>
                    </a:p>
                  </a:txBody>
                  <a:tcPr anchor="ctr" marL="20116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Моделирование и оптимизация бизнес-процессов</a:t>
                      </a:r>
                    </a:p>
                  </a:txBody>
                  <a:tcPr anchor="ctr" marL="201168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B45309"/>
                          </a:solidFill>
                          <a:latin typeface="Segoe UI"/>
                          <a:cs typeface="Segoe UI"/>
                          <a:ea typeface="Segoe UI"/>
                        </a:rPr>
                        <a:t>△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Взаимодействие с заказчиками и командами</a:t>
                      </a:r>
                    </a:p>
                  </a:txBody>
                  <a:tcPr anchor="ctr" marL="20116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Работа с данными / SQL</a:t>
                      </a:r>
                    </a:p>
                  </a:txBody>
                  <a:tcPr anchor="ctr" marL="201168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B45309"/>
                          </a:solidFill>
                          <a:latin typeface="Segoe UI"/>
                          <a:cs typeface="Segoe UI"/>
                          <a:ea typeface="Segoe UI"/>
                        </a:rPr>
                        <a:t>△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BPMN / UML</a:t>
                      </a:r>
                    </a:p>
                  </a:txBody>
                  <a:tcPr anchor="ctr" marL="20116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41B33"/>
                          </a:solidFill>
                          <a:latin typeface="Segoe UI"/>
                          <a:cs typeface="Segoe UI"/>
                          <a:ea typeface="Segoe UI"/>
                        </a:rPr>
                        <a:t>Документирование требований и решений</a:t>
                      </a:r>
                    </a:p>
                  </a:txBody>
                  <a:tcPr anchor="ctr" marL="201168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B45309"/>
                          </a:solidFill>
                          <a:latin typeface="Segoe UI"/>
                          <a:cs typeface="Segoe UI"/>
                          <a:ea typeface="Segoe UI"/>
                        </a:rPr>
                        <a:t>△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49E5C"/>
                          </a:solidFill>
                          <a:latin typeface="Segoe UI"/>
                          <a:cs typeface="Segoe UI"/>
                          <a:ea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1F3F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065775"/>
            <a:ext cx="182880" cy="182880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1091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Ключевые требования — по мнению команды: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13248"/>
            <a:ext cx="3529584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1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522976"/>
            <a:ext cx="64008" cy="621792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3" y="5669280"/>
            <a:ext cx="329184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5710428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5" y="5532120"/>
            <a:ext cx="2660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Работа с требованиями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3895" y="5843016"/>
            <a:ext cx="2660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выяснить, что нужно бизнесу, сформулировать и задокументировать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5413248"/>
            <a:ext cx="3529584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1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5522976"/>
            <a:ext cx="64008" cy="621792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64023" y="5669280"/>
            <a:ext cx="329184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5710428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5532120"/>
            <a:ext cx="2660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Аналитическое мышление и 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5843016"/>
            <a:ext cx="2660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находить закономерности и обосновывать решения (SQL, BI)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5413248"/>
            <a:ext cx="3529584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1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19" y="5522976"/>
            <a:ext cx="64008" cy="621792"/>
          </a:xfrm>
          <a:prstGeom prst="rect">
            <a:avLst/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13063" y="5669280"/>
            <a:ext cx="329184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E56E8"/>
              </a:gs>
              <a:gs pos="100000">
                <a:srgbClr val="22C9E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1351" y="5710428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5532120"/>
            <a:ext cx="26609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1B33"/>
                </a:solidFill>
                <a:latin typeface="Segoe UI"/>
                <a:cs typeface="Segoe UI"/>
                <a:ea typeface="Segoe UI"/>
              </a:rPr>
              <a:t>Понимание бизнес-процессов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1976" y="5843016"/>
            <a:ext cx="26609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178"/>
                </a:solidFill>
                <a:latin typeface="Segoe UI"/>
                <a:cs typeface="Segoe UI"/>
                <a:ea typeface="Segoe UI"/>
              </a:rPr>
              <a:t>описывать существующие процессы и улучшать их (BPMN / UML)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 i="1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✓ — дословно в вакансии,  △ — подразумевается связанным требованием. Яндекс: данные из двух вакансий (6974 — основные требования, 20167 — моделирование процессов и BPMN). Не каждая конкретная вакансия содержит все шесть пунктов.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850" b="0" i="0">
                <a:solidFill>
                  <a:srgbClr val="8B93AD"/>
                </a:solidFill>
                <a:latin typeface="Segoe UI"/>
                <a:cs typeface="Segoe UI"/>
                <a:ea typeface="Segoe UI"/>
              </a:rPr>
              <a:t>Источники:  tbank.ru/career/it/business-analysis/  ·  yandex.ru/jobs/vacancies/biznesanalitik-6974  ·  yandex.ru/jobs/vacancies/biznesanalitik-20167  ·  job.mts.ru/vacancy/694474669050301686  ·  job.alfabank.ru/vacancies/moskva/remote-job/biznes-analitik_36525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5105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C2C9E4"/>
                </a:solidFill>
                <a:latin typeface="Segoe UI"/>
                <a:cs typeface="Segoe UI"/>
                <a:ea typeface="Segoe U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